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goWHy9wPhe3QrcB4Thy1Yzhxi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4" name="Google Shape;794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2" name="Google Shape;832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2" name="Google Shape;872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e20e38e934_210_54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e20e38e934_210_5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e20e38e934_210_57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e20e38e934_210_57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e20e38e934_210_59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e20e38e934_210_59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e20e38e934_210_6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e20e38e934_210_6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20e38e934_210_62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e20e38e934_210_6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e2da75d0cd_0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e2da75d0cd_0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e2f14d0d8e_0_2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e2f14d0d8e_0_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f14d0d8e_7_0)">
  <p:cSld name="Generated (g3e2f14d0d8e_7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92.pn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93.pn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2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9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94.png"/><Relationship Id="rId5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8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Relationship Id="rId4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10.jpg"/><Relationship Id="rId5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10.jpg"/><Relationship Id="rId5" Type="http://schemas.openxmlformats.org/officeDocument/2006/relationships/image" Target="../media/image3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3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4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3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4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4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4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3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4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Relationship Id="rId4" Type="http://schemas.openxmlformats.org/officeDocument/2006/relationships/image" Target="../media/image4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Relationship Id="rId4" Type="http://schemas.openxmlformats.org/officeDocument/2006/relationships/image" Target="../media/image4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Relationship Id="rId4" Type="http://schemas.openxmlformats.org/officeDocument/2006/relationships/image" Target="../media/image5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Relationship Id="rId4" Type="http://schemas.openxmlformats.org/officeDocument/2006/relationships/image" Target="../media/image5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Relationship Id="rId4" Type="http://schemas.openxmlformats.org/officeDocument/2006/relationships/image" Target="../media/image5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Relationship Id="rId4" Type="http://schemas.openxmlformats.org/officeDocument/2006/relationships/image" Target="../media/image6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6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image" Target="../media/image6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Relationship Id="rId4" Type="http://schemas.openxmlformats.org/officeDocument/2006/relationships/image" Target="../media/image5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6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jpg"/><Relationship Id="rId4" Type="http://schemas.openxmlformats.org/officeDocument/2006/relationships/image" Target="../media/image7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5.jpg"/><Relationship Id="rId4" Type="http://schemas.openxmlformats.org/officeDocument/2006/relationships/image" Target="../media/image10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jpg"/><Relationship Id="rId4" Type="http://schemas.openxmlformats.org/officeDocument/2006/relationships/image" Target="../media/image7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jpg"/><Relationship Id="rId4" Type="http://schemas.openxmlformats.org/officeDocument/2006/relationships/image" Target="../media/image8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6.jpg"/><Relationship Id="rId4" Type="http://schemas.openxmlformats.org/officeDocument/2006/relationships/image" Target="../media/image1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jpg"/><Relationship Id="rId4" Type="http://schemas.openxmlformats.org/officeDocument/2006/relationships/image" Target="../media/image7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jpg"/><Relationship Id="rId4" Type="http://schemas.openxmlformats.org/officeDocument/2006/relationships/image" Target="../media/image7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jpg"/><Relationship Id="rId4" Type="http://schemas.openxmlformats.org/officeDocument/2006/relationships/image" Target="../media/image90.png"/><Relationship Id="rId5" Type="http://schemas.openxmlformats.org/officeDocument/2006/relationships/image" Target="../media/image8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g"/><Relationship Id="rId4" Type="http://schemas.openxmlformats.org/officeDocument/2006/relationships/image" Target="../media/image8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jpg"/><Relationship Id="rId4" Type="http://schemas.openxmlformats.org/officeDocument/2006/relationships/image" Target="../media/image79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jpg"/><Relationship Id="rId4" Type="http://schemas.openxmlformats.org/officeDocument/2006/relationships/image" Target="../media/image8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jpg"/><Relationship Id="rId4" Type="http://schemas.openxmlformats.org/officeDocument/2006/relationships/image" Target="../media/image8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jpg"/><Relationship Id="rId4" Type="http://schemas.openxmlformats.org/officeDocument/2006/relationships/image" Target="../media/image8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jpg"/><Relationship Id="rId4" Type="http://schemas.openxmlformats.org/officeDocument/2006/relationships/image" Target="../media/image8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jpg"/><Relationship Id="rId4" Type="http://schemas.openxmlformats.org/officeDocument/2006/relationships/image" Target="../media/image8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4">
            <a:alphaModFix/>
          </a:blip>
          <a:srcRect b="0" l="466" r="456" t="0"/>
          <a:stretch/>
        </p:blipFill>
        <p:spPr>
          <a:xfrm>
            <a:off x="8763000" y="190500"/>
            <a:ext cx="3048000" cy="8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Fundación Palacio de Viana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Leopoldo Izquierdo Fernández</a:t>
            </a:r>
            <a:endParaRPr b="1" sz="3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Director Fundación Palacio de Viana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Leopoldo Izquierdo lidera la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Fundación Palacio de Viana</a:t>
            </a: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uno de los conjuntos palaciales más singulares de Córdoba.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gestión integra patrimonio artístico, arquitectónico y cultural, posicionando el espacio como referente del turismo patrimonial de alta calidad en la ciudad.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5">
            <a:alphaModFix/>
          </a:blip>
          <a:srcRect b="30" l="0" r="0" t="30"/>
          <a:stretch/>
        </p:blipFill>
        <p:spPr>
          <a:xfrm>
            <a:off x="804863" y="1902453"/>
            <a:ext cx="2390775" cy="2874766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81000" y="1714500"/>
            <a:ext cx="3238500" cy="4048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71500" y="1905000"/>
            <a:ext cx="2857500" cy="2857500"/>
          </a:xfrm>
          <a:prstGeom prst="roundRect">
            <a:avLst>
              <a:gd fmla="val 4000" name="adj"/>
            </a:avLst>
          </a:prstGeom>
          <a:solidFill>
            <a:srgbClr val="000000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Mezquita</a:t>
            </a:r>
            <a:r>
              <a:rPr i="1" lang="en-US" sz="1100">
                <a:solidFill>
                  <a:srgbClr val="64748B"/>
                </a:solidFill>
              </a:rPr>
              <a:t>-</a:t>
            </a: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Catedral de Córdoba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000500" y="1714500"/>
            <a:ext cx="7810500" cy="952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José Joaquín Alberto Nieva García</a:t>
            </a:r>
            <a:endParaRPr b="1" sz="2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Deán de la Catedral de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Como Deán de la Catedral de Córdoba, José Joaquín es la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máxima figura eclesiástica</a:t>
            </a: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la Mezquita-Catedral, monumento declarado Patrimonio de la Humanidad.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papel es clave en la gestión, acceso y difusión de uno de los enclaves patrimoniales más visitados del mundo.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descr="A professional portrait of an ecclesiastical figure, José Joaquín Alberto Nieva García, in his clerical attire, with the Mosque-Cathedral of Córdoba as a soft-focus background." id="44" name="Google Shape;44;p2"/>
          <p:cNvSpPr/>
          <p:nvPr>
            <p:ph idx="2" type="pic"/>
          </p:nvPr>
        </p:nvSpPr>
        <p:spPr>
          <a:xfrm>
            <a:off x="571500" y="1905000"/>
            <a:ext cx="28575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sp>
      <p:pic>
        <p:nvPicPr>
          <p:cNvPr id="45" name="Google Shape;45;p2"/>
          <p:cNvPicPr preferRelativeResize="0"/>
          <p:nvPr/>
        </p:nvPicPr>
        <p:blipFill rotWithShape="1">
          <a:blip r:embed="rId4">
            <a:alphaModFix/>
          </a:blip>
          <a:srcRect b="3131" l="0" r="0" t="3131"/>
          <a:stretch/>
        </p:blipFill>
        <p:spPr>
          <a:xfrm>
            <a:off x="830000" y="1905000"/>
            <a:ext cx="2425951" cy="2855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el fondo a Código HEX: #1D4268 (La opción más rápida y recomendada para software de presentaciones)&#10;&#10;Valores RGB: 29, 66, 104 con efecto de estudio." id="46" name="Google Shape;4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000" y="1905675"/>
            <a:ext cx="2425949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3"/>
          <p:cNvGrpSpPr/>
          <p:nvPr/>
        </p:nvGrpSpPr>
        <p:grpSpPr>
          <a:xfrm>
            <a:off x="571500" y="1905000"/>
            <a:ext cx="2857500" cy="2857500"/>
            <a:chOff x="571500" y="1905000"/>
            <a:chExt cx="2857500" cy="2857500"/>
          </a:xfrm>
        </p:grpSpPr>
        <p:sp>
          <p:nvSpPr>
            <p:cNvPr id="60" name="Google Shape;60;p3"/>
            <p:cNvSpPr/>
            <p:nvPr/>
          </p:nvSpPr>
          <p:spPr>
            <a:xfrm>
              <a:off x="571500" y="1905000"/>
              <a:ext cx="2857500" cy="2857500"/>
            </a:xfrm>
            <a:prstGeom prst="roundRect">
              <a:avLst>
                <a:gd fmla="val 4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📷</a:t>
              </a:r>
              <a:endParaRPr sz="36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3"/>
          <p:cNvSpPr txBox="1"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Museo Arqueológico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Irene Maclino Navarro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Directora Museo Arqueológico de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Irene Maclino Navarro dirige el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Museo Arqueológico de Córdoba</a:t>
            </a: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custodia de las colecciones romanas, ibéricas y medievales de la provincia.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liderazgo es fundamental para la investigación y la divulgación del patrimonio arqueológico cordobés a nivel nacional e internacional.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10680" l="0" r="4370" t="18"/>
          <a:stretch/>
        </p:blipFill>
        <p:spPr>
          <a:xfrm>
            <a:off x="928675" y="2109775"/>
            <a:ext cx="2049400" cy="218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el fondo a Código HEX: #1D4268 (La opción más rápida y recomendada para software de presentaciones)&#10;&#10;Valores RGB: 29, 66, 104 con efecto de estudio." id="68" name="Google Shape;68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6488" y="2109772"/>
            <a:ext cx="1913786" cy="218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81000" y="285750"/>
            <a:ext cx="8412600" cy="82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381000" y="857250"/>
            <a:ext cx="109728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Antonio Vallejo Triano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Medina Azahara — Ciudad Palatina Omeya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Antonio Vallejo es referente en la gestión de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Medina Azahara</a:t>
            </a: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ciudad palatina del siglo X declarada Patrimonio Mundial por la UNESCO en 2018.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contribuye a preservar y proyectar internacionalmente uno de los yacimientos arqueológicos más emblemáticos de Al-Ándalus.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571500" y="4953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Conjunto Arqueológico Madinat al-Zahra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6"/>
          <p:cNvPicPr preferRelativeResize="0"/>
          <p:nvPr/>
        </p:nvPicPr>
        <p:blipFill rotWithShape="1">
          <a:blip r:embed="rId4">
            <a:alphaModFix/>
          </a:blip>
          <a:srcRect b="0" l="3393" r="3384" t="0"/>
          <a:stretch/>
        </p:blipFill>
        <p:spPr>
          <a:xfrm>
            <a:off x="762000" y="2000250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571500" y="1905000"/>
            <a:ext cx="2857500" cy="2857500"/>
            <a:chOff x="571500" y="1905000"/>
            <a:chExt cx="2857500" cy="2857500"/>
          </a:xfrm>
        </p:grpSpPr>
        <p:sp>
          <p:nvSpPr>
            <p:cNvPr id="100" name="Google Shape;100;p4"/>
            <p:cNvSpPr/>
            <p:nvPr/>
          </p:nvSpPr>
          <p:spPr>
            <a:xfrm>
              <a:off x="571500" y="1905000"/>
              <a:ext cx="2857500" cy="2857500"/>
            </a:xfrm>
            <a:prstGeom prst="roundRect">
              <a:avLst>
                <a:gd fmla="val 4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 txBox="1"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📷</a:t>
              </a:r>
              <a:endParaRPr sz="36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4"/>
          <p:cNvSpPr txBox="1"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Consejería de Turismo, Cultura y Deporte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Gonzalo J. Herreros Moya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Director General de los Museos de Andalucía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Gonzalo Herreros Moya ostenta la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Dirección General de Museos de Andalucía</a:t>
            </a: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cargo desde el que impulsa políticas de conservación, accesibilidad y digitalización del patrimonio museístico regional.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influencia abarca la totalidad del sistema museístico andaluz, siendo clave en la modernización de las instituciones culturales.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20" l="0" r="0" t="20"/>
          <a:stretch/>
        </p:blipFill>
        <p:spPr>
          <a:xfrm>
            <a:off x="873400" y="2006650"/>
            <a:ext cx="2397350" cy="26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71500" y="1905000"/>
            <a:ext cx="2857500" cy="2857500"/>
          </a:xfrm>
          <a:prstGeom prst="roundRect">
            <a:avLst>
              <a:gd fmla="val 4000" name="adj"/>
            </a:avLst>
          </a:prstGeom>
          <a:solidFill>
            <a:srgbClr val="000000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Casa Sefarad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Sebastián de la Obra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Director Casa Sefarad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Sebastián de la Obra dirige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Casa Sefarad</a:t>
            </a: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espacio dedicado al patrimonio sefardí y al diálogo intercultural en el corazón de la Judería de Córdoba.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labor convierte a Córdoba en referente internacional de la memoria judía medieval y la convivencia de civilizaciones.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955983" y="2104375"/>
            <a:ext cx="2088525" cy="224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381000" y="857250"/>
            <a:ext cx="10972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71500" y="1905000"/>
            <a:ext cx="2857500" cy="2857500"/>
          </a:xfrm>
          <a:prstGeom prst="rect">
            <a:avLst/>
          </a:prstGeom>
          <a:solidFill>
            <a:srgbClr val="000000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rPr>
              <a:t>📷</a:t>
            </a:r>
            <a:endParaRPr sz="3600">
              <a:solidFill>
                <a:srgbClr val="9AAC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i="1" sz="1100">
              <a:solidFill>
                <a:srgbClr val="9AAC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Asociación de los Patios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Miguel Roldán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Asociación de los Patios de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Miguel Roldán representa la </a:t>
            </a:r>
            <a:r>
              <a:rPr b="1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Asociación de los Patios de Córdoba</a:t>
            </a: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cuya fiesta ha sido reconocida como Patrimonio Cultural Inmaterial de la Humanidad por la UNESCO.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preserva y proyecta internacionalmente esta singular tradición cordobesa.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4">
            <a:alphaModFix/>
          </a:blip>
          <a:srcRect b="4661" l="0" r="0" t="4661"/>
          <a:stretch/>
        </p:blipFill>
        <p:spPr>
          <a:xfrm>
            <a:off x="808061" y="1978975"/>
            <a:ext cx="2384389" cy="2711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81000" y="285750"/>
            <a:ext cx="8412600" cy="82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81000" y="857250"/>
            <a:ext cx="109728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Manuel Murillo Estévez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Agrupación de Cofradías de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Agrupación de Cofradías de Córdoba representa uno de los pilares del patrimonio religioso y cultural de la ciudad.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presidente coordina el rico patrimonio procesional cordobés, un activo de turismo cultural de primer orden en Semana Santa y más allá.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71500" y="495300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Agrupación de Cofradías de Córdoba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4">
            <a:alphaModFix/>
          </a:blip>
          <a:srcRect b="9184" l="0" r="0" t="9184"/>
          <a:stretch/>
        </p:blipFill>
        <p:spPr>
          <a:xfrm>
            <a:off x="762000" y="2000250"/>
            <a:ext cx="2476500" cy="2667000"/>
          </a:xfrm>
          <a:prstGeom prst="roundRect">
            <a:avLst>
              <a:gd fmla="val 307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381000" y="857250"/>
            <a:ext cx="10972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9"/>
          <p:cNvGrpSpPr/>
          <p:nvPr/>
        </p:nvGrpSpPr>
        <p:grpSpPr>
          <a:xfrm>
            <a:off x="571500" y="1905000"/>
            <a:ext cx="2857500" cy="2857500"/>
            <a:chOff x="571500" y="1905000"/>
            <a:chExt cx="2857500" cy="2857500"/>
          </a:xfrm>
        </p:grpSpPr>
        <p:sp>
          <p:nvSpPr>
            <p:cNvPr id="176" name="Google Shape;176;p9"/>
            <p:cNvSpPr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📷</a:t>
              </a:r>
              <a:endParaRPr sz="36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571500" y="4857750"/>
            <a:ext cx="2857500" cy="381000"/>
            <a:chOff x="571500" y="4857750"/>
            <a:chExt cx="2857500" cy="381000"/>
          </a:xfrm>
        </p:grpSpPr>
        <p:sp>
          <p:nvSpPr>
            <p:cNvPr id="179" name="Google Shape;179;p9"/>
            <p:cNvSpPr/>
            <p:nvPr/>
          </p:nvSpPr>
          <p:spPr>
            <a:xfrm>
              <a:off x="571500" y="485775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571500" y="4857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Arqueólogo — Patrimonio Histórico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9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Antonio Monterroso Checa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Arqueólogo — Patrimonio Histórico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Antonio Monterroso Checa es arqueólogo especializado en el patrimonio histórico cordobés.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de investigación y divulgación contribuye al conocimiento y puesta en valor de los vestigios materiales que configuran la extraordinaria riqueza arqueológica de Córdoba.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671350" y="1976500"/>
            <a:ext cx="2757650" cy="2816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81000" y="285750"/>
            <a:ext cx="8412600" cy="82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381000" y="857250"/>
            <a:ext cx="109728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Isabel Albás Vives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Teniente de Alcalde de Cultura — Ayuntamiento de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Isabel Albas es la responsable de la política cultural del Ayuntamiento de Córdoba.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Desde su cargo impulsa programas de acceso a la cultura, gestión del patrimonio y posicionamiento de Córdoba como capital cultural de referencia en Andalucía.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>
            <a:off x="571500" y="1905000"/>
            <a:ext cx="2857500" cy="2857500"/>
            <a:chOff x="571500" y="1905000"/>
            <a:chExt cx="2857500" cy="2857500"/>
          </a:xfrm>
        </p:grpSpPr>
        <p:sp>
          <p:nvSpPr>
            <p:cNvPr id="203" name="Google Shape;203;p10"/>
            <p:cNvSpPr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571500" y="1905000"/>
              <a:ext cx="2857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📷</a:t>
              </a:r>
              <a:endParaRPr sz="36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AACBD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0"/>
          <p:cNvSpPr txBox="1"/>
          <p:nvPr/>
        </p:nvSpPr>
        <p:spPr>
          <a:xfrm>
            <a:off x="571500" y="4953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Ayuntamiento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4">
            <a:alphaModFix/>
          </a:blip>
          <a:srcRect b="30" l="0" r="0" t="20"/>
          <a:stretch/>
        </p:blipFill>
        <p:spPr>
          <a:xfrm>
            <a:off x="705501" y="2054600"/>
            <a:ext cx="2589499" cy="2557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el fondo por el color de Código HEX: #1D4268 de estudio fotográfico (La opción más rápida y recomendada para software de presentaciones)&#10;&#10;Valores RGB: 29, 66, 104 " id="207" name="Google Shape;207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905000"/>
            <a:ext cx="2857500" cy="282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11"/>
          <p:cNvGrpSpPr/>
          <p:nvPr/>
        </p:nvGrpSpPr>
        <p:grpSpPr>
          <a:xfrm>
            <a:off x="381000" y="238125"/>
            <a:ext cx="7620000" cy="857400"/>
            <a:chOff x="381000" y="238125"/>
            <a:chExt cx="7620000" cy="857400"/>
          </a:xfrm>
        </p:grpSpPr>
        <p:sp>
          <p:nvSpPr>
            <p:cNvPr id="216" name="Google Shape;216;p11"/>
            <p:cNvSpPr txBox="1"/>
            <p:nvPr/>
          </p:nvSpPr>
          <p:spPr>
            <a:xfrm>
              <a:off x="381000" y="23812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200">
                  <a:solidFill>
                    <a:srgbClr val="0F172A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50 Visionarios del Turismo Patrimonial y Cultural</a:t>
              </a:r>
              <a:endParaRPr b="1" sz="24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6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7" name="Google Shape;217;p11"/>
            <p:cNvSpPr txBox="1"/>
            <p:nvPr/>
          </p:nvSpPr>
          <p:spPr>
            <a:xfrm>
              <a:off x="381000" y="809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5799"/>
                  </a:solidFill>
                  <a:latin typeface="Arial"/>
                  <a:ea typeface="Arial"/>
                  <a:cs typeface="Arial"/>
                  <a:sym typeface="Arial"/>
                </a:rPr>
                <a:t>02. Política en Gestión Cultural y Patrimonial</a:t>
              </a:r>
              <a:endParaRPr b="1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1"/>
          <p:cNvGrpSpPr/>
          <p:nvPr/>
        </p:nvGrpSpPr>
        <p:grpSpPr>
          <a:xfrm>
            <a:off x="381000" y="1524000"/>
            <a:ext cx="3429000" cy="4381500"/>
            <a:chOff x="381000" y="1524000"/>
            <a:chExt cx="3429000" cy="4381500"/>
          </a:xfrm>
        </p:grpSpPr>
        <p:sp>
          <p:nvSpPr>
            <p:cNvPr id="220" name="Google Shape;220;p11"/>
            <p:cNvSpPr/>
            <p:nvPr/>
          </p:nvSpPr>
          <p:spPr>
            <a:xfrm>
              <a:off x="3810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1" name="Google Shape;221;p11"/>
            <p:cNvPicPr preferRelativeResize="0"/>
            <p:nvPr/>
          </p:nvPicPr>
          <p:blipFill rotWithShape="1">
            <a:blip r:embed="rId5">
              <a:alphaModFix/>
            </a:blip>
            <a:srcRect b="19592" l="0" r="0" t="4530"/>
            <a:stretch/>
          </p:blipFill>
          <p:spPr>
            <a:xfrm>
              <a:off x="571500" y="1714500"/>
              <a:ext cx="30480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222" name="Google Shape;222;p11"/>
            <p:cNvSpPr txBox="1"/>
            <p:nvPr/>
          </p:nvSpPr>
          <p:spPr>
            <a:xfrm>
              <a:off x="571500" y="485775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Ayuntamiento de Córdoba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1"/>
          <p:cNvGrpSpPr/>
          <p:nvPr/>
        </p:nvGrpSpPr>
        <p:grpSpPr>
          <a:xfrm>
            <a:off x="4000500" y="1524000"/>
            <a:ext cx="7810500" cy="4095750"/>
            <a:chOff x="4000500" y="1524000"/>
            <a:chExt cx="7810500" cy="4095750"/>
          </a:xfrm>
        </p:grpSpPr>
        <p:sp>
          <p:nvSpPr>
            <p:cNvPr id="224" name="Google Shape;224;p11"/>
            <p:cNvSpPr/>
            <p:nvPr/>
          </p:nvSpPr>
          <p:spPr>
            <a:xfrm>
              <a:off x="4000500" y="1524000"/>
              <a:ext cx="7810500" cy="952500"/>
            </a:xfrm>
            <a:prstGeom prst="roundRect">
              <a:avLst>
                <a:gd fmla="val 12000" name="adj"/>
              </a:avLst>
            </a:prstGeom>
            <a:solidFill>
              <a:srgbClr val="1E57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4191000" y="1524000"/>
              <a:ext cx="742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Marian Aguilar</a:t>
              </a:r>
              <a:endParaRPr b="1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6" name="Google Shape;226;p11"/>
            <p:cNvSpPr txBox="1"/>
            <p:nvPr/>
          </p:nvSpPr>
          <p:spPr>
            <a:xfrm>
              <a:off x="4000500" y="2619375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600">
                  <a:solidFill>
                    <a:srgbClr val="1E5799"/>
                  </a:solidFill>
                  <a:latin typeface="Arial"/>
                  <a:ea typeface="Arial"/>
                  <a:cs typeface="Arial"/>
                  <a:sym typeface="Arial"/>
                </a:rPr>
                <a:t>Teniente de Alcalde de Turismo — Ayuntamiento de Córdoba</a:t>
              </a:r>
              <a:endParaRPr b="1" i="1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4000500" y="3143250"/>
              <a:ext cx="7810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Marian Aguilar dirige la política turística municipal de Córdoba, promoviendo el turismo patrimonial y cultural como motor económico y de identidad.</a:t>
              </a:r>
              <a:endParaRPr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 gestión abarca la promoción internacional, la experiencia del visitante y la sostenibilidad del destino.</a:t>
              </a:r>
              <a:endParaRPr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1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81000" y="1524000"/>
            <a:ext cx="3429000" cy="4381500"/>
          </a:xfrm>
          <a:prstGeom prst="roundRect">
            <a:avLst>
              <a:gd fmla="val 4444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4000500" y="15240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4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2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b="24196" l="0" r="0" t="0"/>
          <a:stretch/>
        </p:blipFill>
        <p:spPr>
          <a:xfrm>
            <a:off x="571500" y="1714500"/>
            <a:ext cx="3048000" cy="30480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grpSp>
        <p:nvGrpSpPr>
          <p:cNvPr id="244" name="Google Shape;244;p12"/>
          <p:cNvGrpSpPr/>
          <p:nvPr/>
        </p:nvGrpSpPr>
        <p:grpSpPr>
          <a:xfrm>
            <a:off x="571500" y="4857750"/>
            <a:ext cx="3048000" cy="857400"/>
            <a:chOff x="571500" y="4857750"/>
            <a:chExt cx="3048000" cy="857400"/>
          </a:xfrm>
        </p:grpSpPr>
        <p:sp>
          <p:nvSpPr>
            <p:cNvPr id="245" name="Google Shape;245;p12"/>
            <p:cNvSpPr/>
            <p:nvPr/>
          </p:nvSpPr>
          <p:spPr>
            <a:xfrm>
              <a:off x="571500" y="4857750"/>
              <a:ext cx="3048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 txBox="1"/>
            <p:nvPr/>
          </p:nvSpPr>
          <p:spPr>
            <a:xfrm>
              <a:off x="571500" y="485775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Junta de Andalucía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12"/>
          <p:cNvSpPr/>
          <p:nvPr/>
        </p:nvSpPr>
        <p:spPr>
          <a:xfrm>
            <a:off x="4191000" y="1524000"/>
            <a:ext cx="7429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Eduardo Lucena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000500" y="2619375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Delegado Territorial de Turismo y Deporte en Córdoba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000500" y="3143250"/>
            <a:ext cx="7810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Eduardo Lucena representa a la Junta de Andalucía en materia de turismo y deporte en la provincia de Córdoba.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labor de coordinación entre administraciones es esencial para el desarrollo de estrategias de turismo patrimonial que posicionen Córdoba en mercados nacionales e internacionales.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3"/>
          <p:cNvPicPr preferRelativeResize="0"/>
          <p:nvPr/>
        </p:nvPicPr>
        <p:blipFill rotWithShape="1">
          <a:blip r:embed="rId4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13"/>
          <p:cNvGrpSpPr/>
          <p:nvPr/>
        </p:nvGrpSpPr>
        <p:grpSpPr>
          <a:xfrm>
            <a:off x="381000" y="1524000"/>
            <a:ext cx="3429000" cy="4381500"/>
            <a:chOff x="381000" y="1524000"/>
            <a:chExt cx="3429000" cy="4381500"/>
          </a:xfrm>
        </p:grpSpPr>
        <p:sp>
          <p:nvSpPr>
            <p:cNvPr id="263" name="Google Shape;263;p13"/>
            <p:cNvSpPr/>
            <p:nvPr/>
          </p:nvSpPr>
          <p:spPr>
            <a:xfrm>
              <a:off x="3810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4" name="Google Shape;264;p13"/>
            <p:cNvPicPr preferRelativeResize="0"/>
            <p:nvPr/>
          </p:nvPicPr>
          <p:blipFill rotWithShape="1">
            <a:blip r:embed="rId5">
              <a:alphaModFix/>
            </a:blip>
            <a:srcRect b="18287" l="0" r="0" t="6733"/>
            <a:stretch/>
          </p:blipFill>
          <p:spPr>
            <a:xfrm>
              <a:off x="571500" y="1714500"/>
              <a:ext cx="30480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265" name="Google Shape;265;p13"/>
            <p:cNvSpPr txBox="1"/>
            <p:nvPr/>
          </p:nvSpPr>
          <p:spPr>
            <a:xfrm>
              <a:off x="571500" y="485775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Destilerías El Duende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13"/>
          <p:cNvSpPr/>
          <p:nvPr/>
        </p:nvSpPr>
        <p:spPr>
          <a:xfrm>
            <a:off x="4000500" y="15240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191000" y="1524000"/>
            <a:ext cx="7429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Anselmo Córdoba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000500" y="2619375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Patrimonio Gastronómico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000500" y="3143250"/>
            <a:ext cx="7810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Anselmo Córdoba lidera Destilerías El Duende, empresa cordobesa que recupera y proyecta el patrimonio vinícola y destilado de la provincia.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conecta tradición artesana, paisaje y territorio con la industria turística local.</a:t>
            </a:r>
            <a:endParaRPr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381000" y="1524000"/>
            <a:ext cx="3429000" cy="4381500"/>
          </a:xfrm>
          <a:prstGeom prst="roundRect">
            <a:avLst>
              <a:gd fmla="val 4444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 b="1821" l="0" r="0" t="1812"/>
          <a:stretch/>
        </p:blipFill>
        <p:spPr>
          <a:xfrm>
            <a:off x="571500" y="1714500"/>
            <a:ext cx="3048000" cy="30480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284" name="Google Shape;284;p14"/>
          <p:cNvSpPr txBox="1"/>
          <p:nvPr/>
        </p:nvSpPr>
        <p:spPr>
          <a:xfrm>
            <a:off x="571500" y="4857750"/>
            <a:ext cx="304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Área de Turismo de la Subbética Cordobesa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000500" y="15240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 txBox="1"/>
          <p:nvPr/>
        </p:nvSpPr>
        <p:spPr>
          <a:xfrm>
            <a:off x="4191000" y="1524000"/>
            <a:ext cx="742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Catalina Molina Rodríguez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4000500" y="2619375"/>
            <a:ext cx="78105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Subbética Cordobesa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Catalina Molina Rodríguez gestiona el turismo de la Subbética Cordobesa, comarca que alberga parques naturales, aceite de oliva DOP y un rico patrimonio árabe.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articula el turismo rural y patrimonial más allá de la capital.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4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15"/>
          <p:cNvGrpSpPr/>
          <p:nvPr/>
        </p:nvGrpSpPr>
        <p:grpSpPr>
          <a:xfrm>
            <a:off x="381000" y="1524000"/>
            <a:ext cx="3810000" cy="4381500"/>
            <a:chOff x="381000" y="1524000"/>
            <a:chExt cx="3810000" cy="4381500"/>
          </a:xfrm>
        </p:grpSpPr>
        <p:sp>
          <p:nvSpPr>
            <p:cNvPr id="301" name="Google Shape;301;p15"/>
            <p:cNvSpPr/>
            <p:nvPr/>
          </p:nvSpPr>
          <p:spPr>
            <a:xfrm>
              <a:off x="381000" y="1524000"/>
              <a:ext cx="3810000" cy="4381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2" name="Google Shape;302;p15"/>
            <p:cNvPicPr preferRelativeResize="0"/>
            <p:nvPr/>
          </p:nvPicPr>
          <p:blipFill rotWithShape="1">
            <a:blip r:embed="rId5">
              <a:alphaModFix/>
            </a:blip>
            <a:srcRect b="27237" l="-2280" r="2280" t="2311"/>
            <a:stretch/>
          </p:blipFill>
          <p:spPr>
            <a:xfrm>
              <a:off x="571500" y="1714500"/>
              <a:ext cx="3429000" cy="31869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303" name="Google Shape;303;p15"/>
            <p:cNvSpPr txBox="1"/>
            <p:nvPr/>
          </p:nvSpPr>
          <p:spPr>
            <a:xfrm>
              <a:off x="571500" y="466725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Agencia de Turismo y OPC de Córdoba</a:t>
              </a:r>
              <a:endParaRPr i="1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15"/>
          <p:cNvSpPr/>
          <p:nvPr/>
        </p:nvSpPr>
        <p:spPr>
          <a:xfrm>
            <a:off x="4191000" y="1524000"/>
            <a:ext cx="7429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Antonio Caño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05" name="Google Shape;305;p15"/>
          <p:cNvGrpSpPr/>
          <p:nvPr/>
        </p:nvGrpSpPr>
        <p:grpSpPr>
          <a:xfrm>
            <a:off x="4381500" y="1524000"/>
            <a:ext cx="7429500" cy="952500"/>
            <a:chOff x="4381500" y="1524000"/>
            <a:chExt cx="7429500" cy="952500"/>
          </a:xfrm>
        </p:grpSpPr>
        <p:sp>
          <p:nvSpPr>
            <p:cNvPr id="306" name="Google Shape;306;p15"/>
            <p:cNvSpPr/>
            <p:nvPr/>
          </p:nvSpPr>
          <p:spPr>
            <a:xfrm>
              <a:off x="4381500" y="1524000"/>
              <a:ext cx="7429500" cy="952500"/>
            </a:xfrm>
            <a:prstGeom prst="roundRect">
              <a:avLst>
                <a:gd fmla="val 15000" name="adj"/>
              </a:avLst>
            </a:prstGeom>
            <a:solidFill>
              <a:srgbClr val="1E57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 txBox="1"/>
            <p:nvPr/>
          </p:nvSpPr>
          <p:spPr>
            <a:xfrm>
              <a:off x="4619625" y="1524000"/>
              <a:ext cx="695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Antonio Caño</a:t>
              </a:r>
              <a:endParaRPr b="1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08" name="Google Shape;308;p15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Presidente Agencia de Turismo y OPC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Antonio Caño preside la agencia de turismo y organización de congresos de Córdoba, siendo pieza clave en el posicionamiento de la ciudad como destino de turismo de reuniones y MICE.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liderazgo impulsa la llegada de eventos culturales y profesionales a la ciudad.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3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571500" y="4667250"/>
            <a:ext cx="342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Asociación de Empresarios de Alojamientos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Elena Rizos Espinosa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Presidenta AHECOR — Asociación de Alojamientos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Elena Rizos Espinosa preside AHECOR, la Asociación de Empresarios de Alojamientos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Desde esta posición representa al sector hotelero y trabaja por la mejora de la oferta de hospedaje vinculada al turismo patrimonial y cultural en la provincia.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29" name="Google Shape;329;p16"/>
          <p:cNvPicPr preferRelativeResize="0"/>
          <p:nvPr/>
        </p:nvPicPr>
        <p:blipFill rotWithShape="1">
          <a:blip r:embed="rId4">
            <a:alphaModFix/>
          </a:blip>
          <a:srcRect b="9206" l="0" r="0" t="0"/>
          <a:stretch/>
        </p:blipFill>
        <p:spPr>
          <a:xfrm>
            <a:off x="828675" y="1811375"/>
            <a:ext cx="2744375" cy="260847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02. Política en Gestión Cultural y Patrimonial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17"/>
          <p:cNvPicPr preferRelativeResize="0"/>
          <p:nvPr/>
        </p:nvPicPr>
        <p:blipFill rotWithShape="1">
          <a:blip r:embed="rId3">
            <a:alphaModFix/>
          </a:blip>
          <a:srcRect b="0" l="259" r="259" t="0"/>
          <a:stretch/>
        </p:blipFill>
        <p:spPr>
          <a:xfrm>
            <a:off x="9144000" y="180975"/>
            <a:ext cx="26670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7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17"/>
          <p:cNvGrpSpPr/>
          <p:nvPr/>
        </p:nvGrpSpPr>
        <p:grpSpPr>
          <a:xfrm>
            <a:off x="571500" y="1714500"/>
            <a:ext cx="3429000" cy="3181200"/>
            <a:chOff x="571500" y="1714500"/>
            <a:chExt cx="3429000" cy="3181200"/>
          </a:xfrm>
        </p:grpSpPr>
        <p:sp>
          <p:nvSpPr>
            <p:cNvPr id="343" name="Google Shape;343;p17"/>
            <p:cNvSpPr/>
            <p:nvPr/>
          </p:nvSpPr>
          <p:spPr>
            <a:xfrm>
              <a:off x="571500" y="1714500"/>
              <a:ext cx="3429000" cy="3181200"/>
            </a:xfrm>
            <a:prstGeom prst="roundRect">
              <a:avLst>
                <a:gd fmla="val 4491" name="adj"/>
              </a:avLst>
            </a:prstGeom>
            <a:solidFill>
              <a:srgbClr val="E8EDF2"/>
            </a:solidFill>
            <a:ln cap="flat" cmpd="sng" w="9525">
              <a:solidFill>
                <a:srgbClr val="C8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 txBox="1"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17"/>
          <p:cNvSpPr txBox="1"/>
          <p:nvPr/>
        </p:nvSpPr>
        <p:spPr>
          <a:xfrm>
            <a:off x="571500" y="4667250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Confederación de Empresarios de Córdoba (CEC)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Antonia Alcántara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Presidenta Comisión de Cultura y Turismo — CEC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Antonia Alcántara preside la Comisión de Cultura y Turismo de la Confederación de Empresarios de Córdoba (CEC), representando los intereses del sector privado y promoviendo la colaboración público-privada en la dinamización del turismo cultural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51" name="Google Shape;351;p17"/>
          <p:cNvPicPr preferRelativeResize="0"/>
          <p:nvPr/>
        </p:nvPicPr>
        <p:blipFill rotWithShape="1">
          <a:blip r:embed="rId4">
            <a:alphaModFix/>
          </a:blip>
          <a:srcRect b="100" l="0" r="0" t="90"/>
          <a:stretch/>
        </p:blipFill>
        <p:spPr>
          <a:xfrm>
            <a:off x="729988" y="1876353"/>
            <a:ext cx="3112014" cy="28575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8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Restaurante Noor (★★★ Michelin)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Paco Morales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Gastronomía y Patrimonio inmaterial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Paco Morales es el chef cordobés más laureado de España, con tres estrellas Michelin en Noor.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propuesta gastronómica rescata la cocina andalusí del siglo X convirtiéndose en referente mundial de la gastronomía patrimonial y en embajador de Córdoba y Al-Ándalus.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70" name="Google Shape;3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850" y="1603325"/>
            <a:ext cx="2984300" cy="31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0" name="Google Shape;380;p19"/>
          <p:cNvGrpSpPr/>
          <p:nvPr/>
        </p:nvGrpSpPr>
        <p:grpSpPr>
          <a:xfrm>
            <a:off x="381000" y="238125"/>
            <a:ext cx="7620000" cy="857400"/>
            <a:chOff x="381000" y="238125"/>
            <a:chExt cx="7620000" cy="857400"/>
          </a:xfrm>
        </p:grpSpPr>
        <p:sp>
          <p:nvSpPr>
            <p:cNvPr id="381" name="Google Shape;381;p19"/>
            <p:cNvSpPr txBox="1"/>
            <p:nvPr/>
          </p:nvSpPr>
          <p:spPr>
            <a:xfrm>
              <a:off x="381000" y="23812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200">
                  <a:solidFill>
                    <a:srgbClr val="0F172A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50 Visionarios del Turismo Patrimonial y Cultural</a:t>
              </a:r>
              <a:endParaRPr b="1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6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82" name="Google Shape;382;p19"/>
            <p:cNvSpPr txBox="1"/>
            <p:nvPr/>
          </p:nvSpPr>
          <p:spPr>
            <a:xfrm>
              <a:off x="381000" y="809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5799"/>
                  </a:solidFill>
                  <a:latin typeface="Arial"/>
                  <a:ea typeface="Arial"/>
                  <a:cs typeface="Arial"/>
                  <a:sym typeface="Arial"/>
                </a:rPr>
                <a:t>03. Gestión Patrimonial Inmaterial: Gastronomía</a:t>
              </a:r>
              <a:endParaRPr b="1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19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Investigación en Gastronomía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Leonardo Gallardo Apolo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y Consultor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Leonardo Gallardo Apolo</a:t>
            </a:r>
            <a:r>
              <a:rPr lang="en-US" sz="1700">
                <a:solidFill>
                  <a:srgbClr val="334155"/>
                </a:solidFill>
              </a:rPr>
              <a:t> destaca </a:t>
            </a: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 la investigación de la gastronomía como </a:t>
            </a:r>
            <a:r>
              <a:rPr lang="en-US" sz="1700">
                <a:solidFill>
                  <a:srgbClr val="334155"/>
                </a:solidFill>
              </a:rPr>
              <a:t>motor </a:t>
            </a: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patrimonial, centrando su labor en el rescate y puesta en valor del legado culinario cordobés como activo turístico y cultural.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contribuye a la preservación del patrimonio inmaterial, conectando la historia de los sabores locales con la gestión moderna del turismo cultural y la identidad del territorio. Edit</a:t>
            </a:r>
            <a:r>
              <a:rPr lang="en-US" sz="1700">
                <a:solidFill>
                  <a:srgbClr val="334155"/>
                </a:solidFill>
              </a:rPr>
              <a:t>or de la revista Cuadernos de Gestión Turística del Patrimonio.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90" name="Google Shape;390;p19"/>
          <p:cNvPicPr preferRelativeResize="0"/>
          <p:nvPr/>
        </p:nvPicPr>
        <p:blipFill rotWithShape="1">
          <a:blip r:embed="rId4">
            <a:alphaModFix/>
          </a:blip>
          <a:srcRect b="4677" l="0" r="0" t="4677"/>
          <a:stretch/>
        </p:blipFill>
        <p:spPr>
          <a:xfrm>
            <a:off x="669125" y="1688850"/>
            <a:ext cx="3331375" cy="3049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20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0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571500" y="1714500"/>
            <a:ext cx="3429000" cy="3181200"/>
          </a:xfrm>
          <a:prstGeom prst="roundRect">
            <a:avLst>
              <a:gd fmla="val 4491" name="adj"/>
            </a:avLst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person</a:t>
            </a:r>
            <a:endParaRPr sz="4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i="1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Bodegas Campos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Antonio Muñoz Ariza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Gastronomía Patrimonial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Antonio Muñoz Ariza lidera Bodegas Campos, uno de los restaurantes más emblemáticos y con mayor solera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establecimiento, instalado en una bodega histórica, es referente de la cocina cordobesa tradicional y escenario de diplomacia gastronómica y turismo cultural.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11" name="Google Shape;411;p20"/>
          <p:cNvPicPr preferRelativeResize="0"/>
          <p:nvPr/>
        </p:nvPicPr>
        <p:blipFill rotWithShape="1">
          <a:blip r:embed="rId4">
            <a:alphaModFix/>
          </a:blip>
          <a:srcRect b="28177" l="0" r="0" t="3944"/>
          <a:stretch/>
        </p:blipFill>
        <p:spPr>
          <a:xfrm>
            <a:off x="731550" y="1838400"/>
            <a:ext cx="2904125" cy="245636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1" name="Google Shape;421;p21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1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571500" y="1714500"/>
            <a:ext cx="3429000" cy="3181200"/>
          </a:xfrm>
          <a:prstGeom prst="roundRect">
            <a:avLst>
              <a:gd fmla="val 4491" name="adj"/>
            </a:avLst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Restaurante El Churrasco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Rafael Carrillo</a:t>
            </a:r>
            <a:endParaRPr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Restaurante El Churrasco — Cocina Cordobesa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Rafael Carrillo dirige El Churrasco, institución de la gastronomía cordobesa ubicada en plena Judería.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restaurante, con más de cuatro décadas de historia, es símbolo de la cocina tradicional local y espacio de referencia para visitantes que buscan la auténtica experiencia gastronómica patrimonial.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1" name="Google Shape;431;p21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857250" y="1714500"/>
            <a:ext cx="2857500" cy="30857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1" name="Google Shape;441;p22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2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deck</a:t>
            </a:r>
            <a:endParaRPr sz="4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i="1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Grupo Rosales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Paco Rosales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Grupo Rosales — Esencia de los Patios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Paco Rosales encabeza el Grupo Rosales, referente de la hostelería cordobesa con propuestas que integran gastronomía, patios y experiencias culturales.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proyecto Esencia de los Patios conecta la tradición floral y la identidad local con una oferta gastronómica única en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52" name="Google Shape;452;p22"/>
          <p:cNvPicPr preferRelativeResize="0"/>
          <p:nvPr/>
        </p:nvPicPr>
        <p:blipFill rotWithShape="1">
          <a:blip r:embed="rId4">
            <a:alphaModFix/>
          </a:blip>
          <a:srcRect b="40" l="0" r="0" t="40"/>
          <a:stretch/>
        </p:blipFill>
        <p:spPr>
          <a:xfrm>
            <a:off x="926288" y="1714504"/>
            <a:ext cx="2719412" cy="31790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2" name="Google Shape;462;p23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3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restaurant</a:t>
            </a:r>
            <a:endParaRPr sz="4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i="1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Ermita la Candelaria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Javier Campos González</a:t>
            </a:r>
            <a:endParaRPr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Ermita la Candelaria — Gastronomía y Territorio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Javier Campos dirige la Ermita la Candelaria, espacio que une gastronomía, patrimonio arquitectónico y paisaje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apuesta integra la experiencia culinaria con el entorno natural y cultural, siendo referente de enoturismo y turismo gastronómico en la provincia.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23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73" name="Google Shape;473;p23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893404" y="1714504"/>
            <a:ext cx="3014444" cy="317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83" name="Google Shape;483;p24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4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i="0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Finca El Capricho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Rafael San Miguel</a:t>
            </a:r>
            <a:endParaRPr b="1" i="0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Finca El Capricho — Patrimonio Rural y Gastronómico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Rafael San Miguel gestiona Finca El Capricho, espacio que combina turismo rural, gastronomía y patrimonio agrícola cordobés.</a:t>
            </a:r>
            <a:endParaRPr b="0" i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0" i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proyecto es ejemplo de aprovechamiento sostenible del territorio y de construcción de experiencias turísticas de calidad en el entorno rural de Córdoba.</a:t>
            </a:r>
            <a:endParaRPr b="0" i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24</a:t>
            </a:r>
            <a:endParaRPr b="1" i="0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93" name="Google Shape;493;p24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852475" y="1714500"/>
            <a:ext cx="2867025" cy="305075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0" name="Google Shape;5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Cofradía Gastronómica del Rabo de Toro Cordobés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Ricardo Rojas Peinado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Pdte. Cofradía Gastronómica del Rabo de Toro Cordobés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Ricardo Rojas Peinado preside la Cofradía Gastronómica del Rabo de Toro Cordobés, institución que defiende y proyecta uno de los platos más representativos de la cocina patrimonial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coloca el rabo de toro como símbolo de identidad gastronómica local.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12" name="Google Shape;512;p25"/>
          <p:cNvPicPr preferRelativeResize="0"/>
          <p:nvPr/>
        </p:nvPicPr>
        <p:blipFill rotWithShape="1">
          <a:blip r:embed="rId4">
            <a:alphaModFix/>
          </a:blip>
          <a:srcRect b="25206" l="7375" r="13748" t="0"/>
          <a:stretch/>
        </p:blipFill>
        <p:spPr>
          <a:xfrm>
            <a:off x="1041275" y="2071525"/>
            <a:ext cx="2489452" cy="230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6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22" name="Google Shape;522;p26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6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4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i="1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6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Gastronomía Patrimonial y Andalusí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Almudena Villegas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Historiadora y Experta Gastronóma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Almudena Villegas es historiadora, escritora y experta gastronóma española de reconocido prestigio.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obra rescata el patrimonio culinario histórico andaluz e hispano, siendo referente académico y divulgativo de la gastronomía patrimonial y de la cocina andalusí.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32" name="Google Shape;532;p26"/>
          <p:cNvPicPr preferRelativeResize="0"/>
          <p:nvPr/>
        </p:nvPicPr>
        <p:blipFill rotWithShape="1">
          <a:blip r:embed="rId4">
            <a:alphaModFix/>
          </a:blip>
          <a:srcRect b="0" l="20" r="20" t="0"/>
          <a:stretch/>
        </p:blipFill>
        <p:spPr>
          <a:xfrm>
            <a:off x="888652" y="1639238"/>
            <a:ext cx="2794700" cy="33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35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42" name="Google Shape;542;p27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7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571500" y="1714500"/>
            <a:ext cx="3429000" cy="3181200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opacity</a:t>
            </a:r>
            <a:endParaRPr sz="4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9AACBD"/>
                </a:solidFill>
                <a:latin typeface="Arial"/>
                <a:ea typeface="Arial"/>
                <a:cs typeface="Arial"/>
                <a:sym typeface="Arial"/>
              </a:rPr>
              <a:t>Foto por incorporar</a:t>
            </a:r>
            <a:endParaRPr b="0" i="1" sz="1100">
              <a:solidFill>
                <a:srgbClr val="9AAC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DOP Baena — Aceite de Oliva Virgen Extra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Javier Alcalá de la Moneda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Representante de DOP Baena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Javier Alcalá de la Moneda representa la Denominación de Origen Protegida Baena, uno de los aceites de oliva virgen extra más reconocidos del mundo.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defiende el aceite de Córdoba como patrimonio agroalimentario e identidad territorial de la provincia.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52" name="Google Shape;552;p27"/>
          <p:cNvPicPr preferRelativeResize="0"/>
          <p:nvPr/>
        </p:nvPicPr>
        <p:blipFill rotWithShape="1">
          <a:blip r:embed="rId4">
            <a:alphaModFix/>
          </a:blip>
          <a:srcRect b="0" l="20" r="20" t="0"/>
          <a:stretch/>
        </p:blipFill>
        <p:spPr>
          <a:xfrm>
            <a:off x="731550" y="1944265"/>
            <a:ext cx="3108900" cy="2721316"/>
          </a:xfrm>
          <a:prstGeom prst="rect">
            <a:avLst/>
          </a:prstGeom>
          <a:solidFill>
            <a:srgbClr val="E8EDF2"/>
          </a:solidFill>
          <a:ln cap="flat" cmpd="sng" w="9525">
            <a:solidFill>
              <a:srgbClr val="C8D4E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35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62" name="Google Shape;562;p28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8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28"/>
          <p:cNvGrpSpPr/>
          <p:nvPr/>
        </p:nvGrpSpPr>
        <p:grpSpPr>
          <a:xfrm>
            <a:off x="571500" y="1714500"/>
            <a:ext cx="3429000" cy="3180300"/>
            <a:chOff x="571500" y="1714500"/>
            <a:chExt cx="3429000" cy="3180300"/>
          </a:xfrm>
        </p:grpSpPr>
        <p:sp>
          <p:nvSpPr>
            <p:cNvPr id="566" name="Google Shape;566;p28"/>
            <p:cNvSpPr/>
            <p:nvPr/>
          </p:nvSpPr>
          <p:spPr>
            <a:xfrm>
              <a:off x="571500" y="1714500"/>
              <a:ext cx="3429000" cy="3180300"/>
            </a:xfrm>
            <a:prstGeom prst="rect">
              <a:avLst/>
            </a:prstGeom>
            <a:solidFill>
              <a:srgbClr val="E8EDF2"/>
            </a:solidFill>
            <a:ln cap="flat" cmpd="sng" w="9525">
              <a:solidFill>
                <a:srgbClr val="C8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8"/>
            <p:cNvSpPr txBox="1"/>
            <p:nvPr/>
          </p:nvSpPr>
          <p:spPr>
            <a:xfrm>
              <a:off x="571500" y="1714500"/>
              <a:ext cx="3429000" cy="31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restaurant</a:t>
              </a:r>
              <a:endParaRPr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i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28"/>
          <p:cNvGrpSpPr/>
          <p:nvPr/>
        </p:nvGrpSpPr>
        <p:grpSpPr>
          <a:xfrm>
            <a:off x="571500" y="4953000"/>
            <a:ext cx="3429000" cy="762000"/>
            <a:chOff x="571500" y="4953000"/>
            <a:chExt cx="3429000" cy="762000"/>
          </a:xfrm>
        </p:grpSpPr>
        <p:sp>
          <p:nvSpPr>
            <p:cNvPr id="569" name="Google Shape;569;p28"/>
            <p:cNvSpPr/>
            <p:nvPr/>
          </p:nvSpPr>
          <p:spPr>
            <a:xfrm>
              <a:off x="571500" y="4953000"/>
              <a:ext cx="342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8"/>
            <p:cNvSpPr txBox="1"/>
            <p:nvPr/>
          </p:nvSpPr>
          <p:spPr>
            <a:xfrm>
              <a:off x="571500" y="495300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DOP Priego de Córdoba — Aceite de Oliva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28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8"/>
          <p:cNvGrpSpPr/>
          <p:nvPr/>
        </p:nvGrpSpPr>
        <p:grpSpPr>
          <a:xfrm>
            <a:off x="4619625" y="1524000"/>
            <a:ext cx="6953400" cy="952500"/>
            <a:chOff x="4619625" y="1524000"/>
            <a:chExt cx="6953400" cy="952500"/>
          </a:xfrm>
        </p:grpSpPr>
        <p:sp>
          <p:nvSpPr>
            <p:cNvPr id="573" name="Google Shape;573;p28"/>
            <p:cNvSpPr/>
            <p:nvPr/>
          </p:nvSpPr>
          <p:spPr>
            <a:xfrm>
              <a:off x="4619625" y="1524000"/>
              <a:ext cx="69534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4619625" y="1524000"/>
              <a:ext cx="695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Rafael Muela Rodríguez</a:t>
              </a:r>
              <a:endParaRPr b="1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575" name="Google Shape;575;p28"/>
          <p:cNvGrpSpPr/>
          <p:nvPr/>
        </p:nvGrpSpPr>
        <p:grpSpPr>
          <a:xfrm>
            <a:off x="4381500" y="2619375"/>
            <a:ext cx="7429500" cy="381000"/>
            <a:chOff x="4381500" y="2619375"/>
            <a:chExt cx="7429500" cy="381000"/>
          </a:xfrm>
        </p:grpSpPr>
        <p:sp>
          <p:nvSpPr>
            <p:cNvPr id="576" name="Google Shape;576;p28"/>
            <p:cNvSpPr/>
            <p:nvPr/>
          </p:nvSpPr>
          <p:spPr>
            <a:xfrm>
              <a:off x="4381500" y="2619375"/>
              <a:ext cx="7429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8"/>
            <p:cNvSpPr txBox="1"/>
            <p:nvPr/>
          </p:nvSpPr>
          <p:spPr>
            <a:xfrm>
              <a:off x="4381500" y="2619375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rgbClr val="1E5799"/>
                  </a:solidFill>
                  <a:latin typeface="Arial"/>
                  <a:ea typeface="Arial"/>
                  <a:cs typeface="Arial"/>
                  <a:sym typeface="Arial"/>
                </a:rPr>
                <a:t>DOP Priego de Córdoba — Aceite de Oliva</a:t>
              </a:r>
              <a:endParaRPr b="1" i="1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28"/>
          <p:cNvGrpSpPr/>
          <p:nvPr/>
        </p:nvGrpSpPr>
        <p:grpSpPr>
          <a:xfrm>
            <a:off x="4381500" y="3143250"/>
            <a:ext cx="7429500" cy="2857500"/>
            <a:chOff x="4381500" y="3143250"/>
            <a:chExt cx="7429500" cy="2857500"/>
          </a:xfrm>
        </p:grpSpPr>
        <p:sp>
          <p:nvSpPr>
            <p:cNvPr id="579" name="Google Shape;579;p28"/>
            <p:cNvSpPr/>
            <p:nvPr/>
          </p:nvSpPr>
          <p:spPr>
            <a:xfrm>
              <a:off x="4381500" y="3143250"/>
              <a:ext cx="7429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8"/>
            <p:cNvSpPr txBox="1"/>
            <p:nvPr/>
          </p:nvSpPr>
          <p:spPr>
            <a:xfrm>
              <a:off x="4381500" y="3143250"/>
              <a:ext cx="742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Rafael Muela Rodríguez lidera la DOP Priego de Córdoba, uno de los aceites de oliva virgen extra más galardonados internacionalmente.</a:t>
              </a:r>
              <a:endParaRPr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 contribución al posicionamiento del aceite cordobés como producto de excelencia patrimonial y turística es de primer orden.</a:t>
              </a:r>
              <a:endParaRPr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28"/>
          <p:cNvGrpSpPr/>
          <p:nvPr/>
        </p:nvGrpSpPr>
        <p:grpSpPr>
          <a:xfrm>
            <a:off x="11239500" y="6286500"/>
            <a:ext cx="571500" cy="571500"/>
            <a:chOff x="11239500" y="6286500"/>
            <a:chExt cx="571500" cy="571500"/>
          </a:xfrm>
        </p:grpSpPr>
        <p:sp>
          <p:nvSpPr>
            <p:cNvPr id="582" name="Google Shape;582;p28"/>
            <p:cNvSpPr/>
            <p:nvPr/>
          </p:nvSpPr>
          <p:spPr>
            <a:xfrm>
              <a:off x="11239500" y="6286500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8"/>
            <p:cNvSpPr txBox="1"/>
            <p:nvPr/>
          </p:nvSpPr>
          <p:spPr>
            <a:xfrm>
              <a:off x="11239500" y="62865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28</a:t>
              </a:r>
              <a:endParaRPr b="1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pic>
        <p:nvPicPr>
          <p:cNvPr id="584" name="Google Shape;584;p28"/>
          <p:cNvPicPr preferRelativeResize="0"/>
          <p:nvPr/>
        </p:nvPicPr>
        <p:blipFill rotWithShape="1">
          <a:blip r:embed="rId4">
            <a:alphaModFix/>
          </a:blip>
          <a:srcRect b="9056" l="0" r="0" t="9064"/>
          <a:stretch/>
        </p:blipFill>
        <p:spPr>
          <a:xfrm>
            <a:off x="852488" y="1714500"/>
            <a:ext cx="2867025" cy="285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9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9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35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94" name="Google Shape;594;p29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9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03. Gestión Patrimonial Inmaterial: Gastronomía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29"/>
          <p:cNvGrpSpPr/>
          <p:nvPr/>
        </p:nvGrpSpPr>
        <p:grpSpPr>
          <a:xfrm>
            <a:off x="571500" y="1714500"/>
            <a:ext cx="3429000" cy="3181200"/>
            <a:chOff x="571500" y="1714500"/>
            <a:chExt cx="3429000" cy="3181200"/>
          </a:xfrm>
        </p:grpSpPr>
        <p:sp>
          <p:nvSpPr>
            <p:cNvPr id="598" name="Google Shape;598;p29"/>
            <p:cNvSpPr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solidFill>
              <a:srgbClr val="E8EDF2"/>
            </a:solidFill>
            <a:ln cap="flat" cmpd="sng" w="9525">
              <a:solidFill>
                <a:srgbClr val="C8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9"/>
            <p:cNvSpPr txBox="1"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restaurant</a:t>
              </a:r>
              <a:endParaRPr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Foto por incorporar</a:t>
              </a:r>
              <a:endParaRPr b="0" i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29"/>
          <p:cNvSpPr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ACORA — Asociación Oleícola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Macarena Sánchez del Águila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603" name="Google Shape;603;p29"/>
          <p:cNvGrpSpPr/>
          <p:nvPr/>
        </p:nvGrpSpPr>
        <p:grpSpPr>
          <a:xfrm>
            <a:off x="4381500" y="2619375"/>
            <a:ext cx="7429500" cy="381000"/>
            <a:chOff x="4381500" y="2619375"/>
            <a:chExt cx="7429500" cy="381000"/>
          </a:xfrm>
        </p:grpSpPr>
        <p:sp>
          <p:nvSpPr>
            <p:cNvPr id="604" name="Google Shape;604;p29"/>
            <p:cNvSpPr/>
            <p:nvPr/>
          </p:nvSpPr>
          <p:spPr>
            <a:xfrm>
              <a:off x="4381500" y="2619375"/>
              <a:ext cx="7429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9"/>
            <p:cNvSpPr txBox="1"/>
            <p:nvPr/>
          </p:nvSpPr>
          <p:spPr>
            <a:xfrm>
              <a:off x="4381500" y="2619375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rgbClr val="1E5799"/>
                  </a:solidFill>
                  <a:latin typeface="Arial"/>
                  <a:ea typeface="Arial"/>
                  <a:cs typeface="Arial"/>
                  <a:sym typeface="Arial"/>
                </a:rPr>
                <a:t>ACORA — Asociación Oleícola de Córdoba</a:t>
              </a:r>
              <a:endParaRPr b="1" i="1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29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Macarena Sánchez del Águila representa ACORA, la asociación que articula el sector oleícola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conecta productores, patrimonio olivarero y turismo gastronómico, contribuyendo a que el aceite de oliva sea eje vertebrador de la identidad cultural cordobesa.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08" name="Google Shape;608;p29"/>
          <p:cNvPicPr preferRelativeResize="0"/>
          <p:nvPr/>
        </p:nvPicPr>
        <p:blipFill rotWithShape="1">
          <a:blip r:embed="rId4">
            <a:alphaModFix/>
          </a:blip>
          <a:srcRect b="6240" l="0" r="0" t="6240"/>
          <a:stretch/>
        </p:blipFill>
        <p:spPr>
          <a:xfrm>
            <a:off x="830213" y="1714500"/>
            <a:ext cx="2911584" cy="28518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0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18" name="Google Shape;618;p30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0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04. Gestión Patrimonial Inmaterial: Música y Flamenco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381000" y="1723594"/>
            <a:ext cx="3810000" cy="41820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30"/>
          <p:cNvGrpSpPr/>
          <p:nvPr/>
        </p:nvGrpSpPr>
        <p:grpSpPr>
          <a:xfrm>
            <a:off x="571500" y="1714500"/>
            <a:ext cx="3429000" cy="3181200"/>
            <a:chOff x="571500" y="1714500"/>
            <a:chExt cx="3429000" cy="3181200"/>
          </a:xfrm>
        </p:grpSpPr>
        <p:sp>
          <p:nvSpPr>
            <p:cNvPr id="622" name="Google Shape;622;p30"/>
            <p:cNvSpPr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solidFill>
              <a:srgbClr val="E8EDF2"/>
            </a:solidFill>
            <a:ln cap="flat" cmpd="sng" w="9525">
              <a:solidFill>
                <a:srgbClr val="C8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0"/>
            <p:cNvSpPr txBox="1"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30"/>
          <p:cNvSpPr txBox="1"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Teresa Jiménez — Guitarrista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Teresa Jiménez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Guitarrista — Patrimonio Musical Cordobés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0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Teresa Guitar es guitarrista de referencia en el panorama musical cordobés y andaluz.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artístico preserva y proyecta la guitarra flamenca como patrimonio cultural inmaterial, contribuyendo a la visibilidad internacional del flamenco de Córdoba y su legado musical.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0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30" name="Google Shape;630;p30"/>
          <p:cNvPicPr preferRelativeResize="0"/>
          <p:nvPr/>
        </p:nvPicPr>
        <p:blipFill rotWithShape="1">
          <a:blip r:embed="rId4">
            <a:alphaModFix/>
          </a:blip>
          <a:srcRect b="2253" l="0" r="0" t="2263"/>
          <a:stretch/>
        </p:blipFill>
        <p:spPr>
          <a:xfrm>
            <a:off x="925574" y="1714500"/>
            <a:ext cx="2572872" cy="303711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40" name="Google Shape;640;p31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1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04. Gestión Patrimonial Inmaterial: Música y Flamenco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3" name="Google Shape;643;p31"/>
          <p:cNvPicPr preferRelativeResize="0"/>
          <p:nvPr/>
        </p:nvPicPr>
        <p:blipFill rotWithShape="1">
          <a:blip r:embed="rId4">
            <a:alphaModFix/>
          </a:blip>
          <a:srcRect b="0" l="7641" r="7641" t="0"/>
          <a:stretch/>
        </p:blipFill>
        <p:spPr>
          <a:xfrm>
            <a:off x="781050" y="1714500"/>
            <a:ext cx="3009900" cy="3181200"/>
          </a:xfrm>
          <a:prstGeom prst="roundRect">
            <a:avLst>
              <a:gd fmla="val 3164" name="adj"/>
            </a:avLst>
          </a:prstGeom>
          <a:noFill/>
          <a:ln>
            <a:noFill/>
          </a:ln>
        </p:spPr>
      </p:pic>
      <p:sp>
        <p:nvSpPr>
          <p:cNvPr id="644" name="Google Shape;644;p31"/>
          <p:cNvSpPr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David Pino — Músico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David Pino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Músico — Patrimonio Musical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David Pino es músico vinculado al patrimonio musical cordobés. Su trayectoria artística contribuye a la difusión y renovación de las tradiciones musicales de la ciudad, siendo un referente para la escena local.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Actúa como un puente esencial entre la herencia cultural y las nuevas audiencias, revitalizando el legado sonoro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2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2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59" name="Google Shape;659;p32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2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04. Gestión Patrimonial Inmaterial: Música y Flamenco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2"/>
          <p:cNvSpPr/>
          <p:nvPr/>
        </p:nvSpPr>
        <p:spPr>
          <a:xfrm>
            <a:off x="571500" y="495300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Lola Pérez — Flamenco y Cultura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4" name="Google Shape;664;p32"/>
          <p:cNvGrpSpPr/>
          <p:nvPr/>
        </p:nvGrpSpPr>
        <p:grpSpPr>
          <a:xfrm>
            <a:off x="571500" y="1714500"/>
            <a:ext cx="3429000" cy="3181200"/>
            <a:chOff x="571500" y="1714500"/>
            <a:chExt cx="3429000" cy="3181200"/>
          </a:xfrm>
        </p:grpSpPr>
        <p:sp>
          <p:nvSpPr>
            <p:cNvPr id="665" name="Google Shape;665;p32"/>
            <p:cNvSpPr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solidFill>
              <a:srgbClr val="E8EDF2"/>
            </a:solidFill>
            <a:ln cap="flat" cmpd="sng" w="9525">
              <a:solidFill>
                <a:srgbClr val="C8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2"/>
            <p:cNvSpPr txBox="1"/>
            <p:nvPr/>
          </p:nvSpPr>
          <p:spPr>
            <a:xfrm>
              <a:off x="571500" y="1714500"/>
              <a:ext cx="3429000" cy="31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to_camer</a:t>
              </a:r>
              <a:endParaRPr sz="4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" name="Google Shape;667;p32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Lola Pérez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8" name="Google Shape;668;p32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Artista — Flamenco y Cultura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Lola Pérez es artista vinculada al flamenco y la cultura cordobesa.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escénico y creativo contribuye a la proyección del flamenco como patrimonio cultural inmaterial de la humanidad, poniendo en valor la especificidad del flamenco cordobés en el panorama nacional.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71" name="Google Shape;671;p32"/>
          <p:cNvPicPr preferRelativeResize="0"/>
          <p:nvPr/>
        </p:nvPicPr>
        <p:blipFill rotWithShape="1">
          <a:blip r:embed="rId4">
            <a:alphaModFix/>
          </a:blip>
          <a:srcRect b="20" l="0" r="0" t="20"/>
          <a:stretch/>
        </p:blipFill>
        <p:spPr>
          <a:xfrm>
            <a:off x="1377104" y="1783475"/>
            <a:ext cx="2366972" cy="3045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3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81" name="Google Shape;681;p33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3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04. Gestión Patrimonial Inmaterial: Música y Flamenco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3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33"/>
          <p:cNvGrpSpPr/>
          <p:nvPr/>
        </p:nvGrpSpPr>
        <p:grpSpPr>
          <a:xfrm>
            <a:off x="571500" y="4953000"/>
            <a:ext cx="3429000" cy="762000"/>
            <a:chOff x="571500" y="4953000"/>
            <a:chExt cx="3429000" cy="762000"/>
          </a:xfrm>
        </p:grpSpPr>
        <p:sp>
          <p:nvSpPr>
            <p:cNvPr id="685" name="Google Shape;685;p33"/>
            <p:cNvSpPr/>
            <p:nvPr/>
          </p:nvSpPr>
          <p:spPr>
            <a:xfrm>
              <a:off x="571500" y="4953000"/>
              <a:ext cx="342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3"/>
            <p:cNvSpPr txBox="1"/>
            <p:nvPr/>
          </p:nvSpPr>
          <p:spPr>
            <a:xfrm>
              <a:off x="571500" y="495300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Antonio Manuel — Patrimonio Flamenco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7" name="Google Shape;687;p33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3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Antonio Manuel Rodriguez Ramos 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89" name="Google Shape;689;p33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Profesor y Músico — Patrimonio Flamenco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3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Antonio Manuel es profesor y músico especializado en el patrimonio flamenco y musical de Córdoba.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labor docente y artística transmite el legado de las tradiciones musicales cordobesas a nuevas generaciones, siendo referente de la pedagogía del flamenco en la ciudad.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1" name="Google Shape;691;p33"/>
          <p:cNvGrpSpPr/>
          <p:nvPr/>
        </p:nvGrpSpPr>
        <p:grpSpPr>
          <a:xfrm>
            <a:off x="11239500" y="6286500"/>
            <a:ext cx="571500" cy="571500"/>
            <a:chOff x="11239500" y="6286500"/>
            <a:chExt cx="571500" cy="571500"/>
          </a:xfrm>
        </p:grpSpPr>
        <p:sp>
          <p:nvSpPr>
            <p:cNvPr id="692" name="Google Shape;692;p33"/>
            <p:cNvSpPr/>
            <p:nvPr/>
          </p:nvSpPr>
          <p:spPr>
            <a:xfrm>
              <a:off x="11239500" y="6286500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3"/>
            <p:cNvSpPr txBox="1"/>
            <p:nvPr/>
          </p:nvSpPr>
          <p:spPr>
            <a:xfrm>
              <a:off x="11239500" y="62865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33</a:t>
              </a:r>
              <a:endParaRPr b="1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pic>
        <p:nvPicPr>
          <p:cNvPr id="694" name="Google Shape;6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425" y="1900225"/>
            <a:ext cx="2905125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04" name="Google Shape;704;p34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4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34"/>
          <p:cNvPicPr preferRelativeResize="0"/>
          <p:nvPr/>
        </p:nvPicPr>
        <p:blipFill rotWithShape="1">
          <a:blip r:embed="rId4">
            <a:alphaModFix/>
          </a:blip>
          <a:srcRect b="3908" l="0" r="0" t="3917"/>
          <a:stretch/>
        </p:blipFill>
        <p:spPr>
          <a:xfrm>
            <a:off x="809625" y="1809750"/>
            <a:ext cx="29529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34"/>
          <p:cNvSpPr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Desiderio Vaquerizo — Universidad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4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Desiderio Vaquerizo Gil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1" name="Google Shape;711;p34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Catedrático de Arqueología — Universidad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Desiderio Vaquerizo Gil es catedrático de Arqueología de la UCO y uno de los mayores expertos en la Córdoba romana.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 publicado monografías de referencia sobre Colonia Patricia y dirige revistas científicas especializadas, siendo voz fundamental del conocimiento patrimonial de la ciudad.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4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34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5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5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23" name="Google Shape;723;p35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5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5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35"/>
          <p:cNvPicPr preferRelativeResize="0"/>
          <p:nvPr/>
        </p:nvPicPr>
        <p:blipFill rotWithShape="1">
          <a:blip r:embed="rId4">
            <a:alphaModFix/>
          </a:blip>
          <a:srcRect b="20084" l="0" r="0" t="-2599"/>
          <a:stretch/>
        </p:blipFill>
        <p:spPr>
          <a:xfrm>
            <a:off x="809625" y="1809750"/>
            <a:ext cx="29529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7" name="Google Shape;727;p35"/>
          <p:cNvGrpSpPr/>
          <p:nvPr/>
        </p:nvGrpSpPr>
        <p:grpSpPr>
          <a:xfrm>
            <a:off x="571500" y="5048250"/>
            <a:ext cx="3429000" cy="571500"/>
            <a:chOff x="571500" y="5048250"/>
            <a:chExt cx="3429000" cy="571500"/>
          </a:xfrm>
        </p:grpSpPr>
        <p:sp>
          <p:nvSpPr>
            <p:cNvPr id="728" name="Google Shape;728;p35"/>
            <p:cNvSpPr/>
            <p:nvPr/>
          </p:nvSpPr>
          <p:spPr>
            <a:xfrm>
              <a:off x="571500" y="5048250"/>
              <a:ext cx="3429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5"/>
            <p:cNvSpPr txBox="1"/>
            <p:nvPr/>
          </p:nvSpPr>
          <p:spPr>
            <a:xfrm>
              <a:off x="571500" y="50482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Mª Ángeles Jordano — Patrimonio Artístico</a:t>
              </a:r>
              <a:endParaRPr i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35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5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Mª Ángeles Jordano Barbudo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Investigadora Académica — Patrimonio Artístico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Mª Ángeles Jordano es investigadora académica especializada en patrimonio artístico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obra contribuye al conocimiento y difusión del legado artístico de Córdoba, siendo referente en el ámbito universitario y en la comunidad científica del arte hispano.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35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6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6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6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46" name="Google Shape;746;p36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36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6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Mª Ángeles Recio Ramírez,</a:t>
            </a:r>
            <a:endParaRPr i="1" sz="1100">
              <a:solidFill>
                <a:srgbClr val="64748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Turismo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Mª Ángeles </a:t>
            </a:r>
            <a:r>
              <a:rPr b="1" lang="en-US"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Recio Ramírez,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Profesora Asociada — Universidad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Especialista en Derecho Financiero y Tributario dentro del Departamento de Derecho Público y Económico. 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Su labor investigadora destaca por su análisis de la fiscalidad de la empresa turística, aportando una perspectiva jurídico-económica fundamental para la gestión y viabilidad de los proyectos de turismo patrimonial y cultural.</a:t>
            </a: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53" name="Google Shape;753;p36"/>
          <p:cNvPicPr preferRelativeResize="0"/>
          <p:nvPr/>
        </p:nvPicPr>
        <p:blipFill rotWithShape="1">
          <a:blip r:embed="rId4">
            <a:alphaModFix/>
          </a:blip>
          <a:srcRect b="0" l="4882" r="4882" t="0"/>
          <a:stretch/>
        </p:blipFill>
        <p:spPr>
          <a:xfrm>
            <a:off x="885825" y="1912750"/>
            <a:ext cx="2800349" cy="254577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7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4" name="Google Shape;764;p37"/>
          <p:cNvPicPr preferRelativeResize="0"/>
          <p:nvPr/>
        </p:nvPicPr>
        <p:blipFill rotWithShape="1">
          <a:blip r:embed="rId3">
            <a:alphaModFix/>
          </a:blip>
          <a:srcRect b="0" l="5373" r="5373" t="0"/>
          <a:stretch/>
        </p:blipFill>
        <p:spPr>
          <a:xfrm>
            <a:off x="856525" y="2221348"/>
            <a:ext cx="2559900" cy="2415300"/>
          </a:xfrm>
          <a:prstGeom prst="roundRect">
            <a:avLst>
              <a:gd fmla="val 3225" name="adj"/>
            </a:avLst>
          </a:prstGeom>
          <a:noFill/>
          <a:ln>
            <a:noFill/>
          </a:ln>
        </p:spPr>
      </p:pic>
      <p:sp>
        <p:nvSpPr>
          <p:cNvPr id="765" name="Google Shape;765;p37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Carmen Balbuena — Turismo y Patrimonio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7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Carmen Balbuena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Investigadora — Turismo y Patrimonio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Carmen Balbuena es investigadora especializada en turismo y patrimonio cultural.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trayectoria académica aporta conocimiento científico riguroso a la gestión del turismo patrimonial cordobés, contribuyendo a fundamentar políticas y estrategias basadas en evidencia.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37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2" name="Google Shape;772;p37"/>
          <p:cNvPicPr preferRelativeResize="0"/>
          <p:nvPr/>
        </p:nvPicPr>
        <p:blipFill rotWithShape="1">
          <a:blip r:embed="rId4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8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8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8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8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84" name="Google Shape;784;p38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38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6" name="Google Shape;786;p38"/>
          <p:cNvPicPr preferRelativeResize="0"/>
          <p:nvPr/>
        </p:nvPicPr>
        <p:blipFill rotWithShape="1">
          <a:blip r:embed="rId4">
            <a:alphaModFix/>
          </a:blip>
          <a:srcRect b="16086" l="0" r="0" t="0"/>
          <a:stretch/>
        </p:blipFill>
        <p:spPr>
          <a:xfrm>
            <a:off x="809625" y="1809750"/>
            <a:ext cx="2952900" cy="2952900"/>
          </a:xfrm>
          <a:prstGeom prst="roundRect">
            <a:avLst>
              <a:gd fmla="val 6451" name="adj"/>
            </a:avLst>
          </a:prstGeom>
          <a:noFill/>
          <a:ln>
            <a:noFill/>
          </a:ln>
        </p:spPr>
      </p:pic>
      <p:sp>
        <p:nvSpPr>
          <p:cNvPr id="787" name="Google Shape;787;p38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Manuel Rivera — Universidad de Córdoba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Manuel Rivera Mateos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Catedrático — Universidad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Manuel Rivera es catedrático e investigador de la Universidad de Córdoba, con una destacada trayectoria en el ámbito del turismo y la gestión cultural.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obra académica y su papel en la formación de especialistas lo convierten en referente del sector en Andalucía.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8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38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9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8" name="Google Shape;7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39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9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9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9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4" name="Google Shape;804;p39"/>
          <p:cNvSpPr txBox="1"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9"/>
          <p:cNvSpPr txBox="1"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Nuria Ceular  </a:t>
            </a:r>
            <a:b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Villamandos 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6" name="Google Shape;806;p39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Decana — Ciencias del Trabajo / Grado en Turismo UCO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9"/>
          <p:cNvSpPr txBox="1"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Nuria Ceular Villamandos es Decana de la Facultad de Ciencias del Trabajo de la UCO, que alberga el Grado en Turismo.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liderazgo académico e institucional es fundamental para la formación de profesionales del turismo patrimonial y cultural en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9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39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9" name="Google Shape;809;p39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Nuria Ceular — Universidad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39"/>
          <p:cNvPicPr preferRelativeResize="0"/>
          <p:nvPr/>
        </p:nvPicPr>
        <p:blipFill rotWithShape="1">
          <a:blip r:embed="rId4">
            <a:alphaModFix/>
          </a:blip>
          <a:srcRect b="19769" l="0" r="0" t="0"/>
          <a:stretch/>
        </p:blipFill>
        <p:spPr>
          <a:xfrm>
            <a:off x="853350" y="1829575"/>
            <a:ext cx="2865300" cy="281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0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0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0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2" name="Google Shape;822;p40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p40"/>
          <p:cNvPicPr preferRelativeResize="0"/>
          <p:nvPr/>
        </p:nvPicPr>
        <p:blipFill rotWithShape="1">
          <a:blip r:embed="rId3">
            <a:alphaModFix/>
          </a:blip>
          <a:srcRect b="17804" l="0" r="0" t="0"/>
          <a:stretch/>
        </p:blipFill>
        <p:spPr>
          <a:xfrm>
            <a:off x="809625" y="1809750"/>
            <a:ext cx="2952900" cy="2952900"/>
          </a:xfrm>
          <a:prstGeom prst="roundRect">
            <a:avLst>
              <a:gd fmla="val 6451" name="adj"/>
            </a:avLst>
          </a:prstGeom>
          <a:noFill/>
          <a:ln>
            <a:noFill/>
          </a:ln>
        </p:spPr>
      </p:pic>
      <p:sp>
        <p:nvSpPr>
          <p:cNvPr id="824" name="Google Shape;824;p40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José Antonio Fernández Gallardo — Universidad de Córdoba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José Antonio Fernández Gallardo</a:t>
            </a:r>
            <a:endParaRPr b="1" sz="296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6" name="Google Shape;826;p40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— Universidad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0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José Antonio Fernández Gallardo es investigador de la Universidad de Córdoba con especialización en turismo y patrimonio.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contribuye al avance del conocimiento científico sobre el turismo cultural cordobés y al posicionamiento académico de Córdoba como centro de referencia en la materia.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829" name="Google Shape;829;p40"/>
          <p:cNvPicPr preferRelativeResize="0"/>
          <p:nvPr/>
        </p:nvPicPr>
        <p:blipFill rotWithShape="1">
          <a:blip r:embed="rId4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1"/>
          <p:cNvSpPr/>
          <p:nvPr/>
        </p:nvSpPr>
        <p:spPr>
          <a:xfrm>
            <a:off x="320040" y="137160"/>
            <a:ext cx="841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2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 Black"/>
              <a:buNone/>
            </a:pPr>
            <a:r>
              <a:t/>
            </a:r>
            <a:endParaRPr b="1" sz="2800">
              <a:solidFill>
                <a:srgbClr val="1A1A1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6" name="Google Shape;836;p4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   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preencoded.png" id="837" name="Google Shape;83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1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1"/>
          <p:cNvSpPr/>
          <p:nvPr/>
        </p:nvSpPr>
        <p:spPr>
          <a:xfrm>
            <a:off x="320040" y="685760"/>
            <a:ext cx="1097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79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06. KOL — Key Opinion Leaders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1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1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1"/>
          <p:cNvSpPr txBox="1"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Teresa Ávalos Ureña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4" name="Google Shape;844;p41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Prescription</a:t>
            </a: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 — Moda Flamenca y Cultura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1"/>
          <p:cNvSpPr txBox="1"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Teresa Ávalos es referente en moda flamenca y cultura cordobesa, con presencia digital de alta influencia.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contenido visibiliza el flamenco, la artesanía y la identidad cultural de Córdoba ante audiencias globales, convirtiéndola en embajadora digital del patrimonio cultural andaluz.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1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Teresa Ávalos — Prescriptora Cultural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1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41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8" name="Google Shape;848;p41"/>
          <p:cNvSpPr/>
          <p:nvPr/>
        </p:nvSpPr>
        <p:spPr>
          <a:xfrm>
            <a:off x="320040" y="6583680"/>
            <a:ext cx="11521500" cy="36600"/>
          </a:xfrm>
          <a:prstGeom prst="rect">
            <a:avLst/>
          </a:prstGeom>
          <a:solidFill>
            <a:srgbClr val="1E5799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41"/>
          <p:cNvPicPr preferRelativeResize="0"/>
          <p:nvPr/>
        </p:nvPicPr>
        <p:blipFill rotWithShape="1">
          <a:blip r:embed="rId4">
            <a:alphaModFix/>
          </a:blip>
          <a:srcRect b="0" l="4963" r="4963" t="0"/>
          <a:stretch/>
        </p:blipFill>
        <p:spPr>
          <a:xfrm>
            <a:off x="571500" y="1815100"/>
            <a:ext cx="3328876" cy="302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6" name="Google Shape;85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2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2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2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2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2" name="Google Shape;862;p42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06. KOL — Key Opinion Leaders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2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Paloma López-Sidro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4" name="Google Shape;864;p42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Guía Turística — Prescriptora Cultural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2"/>
          <p:cNvSpPr/>
          <p:nvPr/>
        </p:nvSpPr>
        <p:spPr>
          <a:xfrm>
            <a:off x="320040" y="6583680"/>
            <a:ext cx="11521500" cy="36600"/>
          </a:xfrm>
          <a:prstGeom prst="rect">
            <a:avLst/>
          </a:prstGeom>
          <a:solidFill>
            <a:srgbClr val="1E5799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2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Paloma es guía turística y prescriptora cultural de Córdoba, con una voz reconocida en el ámbito del turismo patrimonial.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conocimiento profundo de la ciudad y su capacidad de comunicación la convierten en referente para visitantes que buscan experiencias culturales auténticas.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2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Paloma López-Sidro — Guía Turística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2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42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869" name="Google Shape;869;p42"/>
          <p:cNvPicPr preferRelativeResize="0"/>
          <p:nvPr/>
        </p:nvPicPr>
        <p:blipFill rotWithShape="1">
          <a:blip r:embed="rId4">
            <a:alphaModFix/>
          </a:blip>
          <a:srcRect b="0" l="-1530" r="1530" t="0"/>
          <a:stretch/>
        </p:blipFill>
        <p:spPr>
          <a:xfrm>
            <a:off x="911275" y="1759900"/>
            <a:ext cx="2870650" cy="28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6" name="Google Shape;8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91440"/>
            <a:ext cx="31089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43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3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3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3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2" name="Google Shape;882;p43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06. KOL — Key Opinion Leaders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3"/>
          <p:cNvSpPr txBox="1"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Walada de la Mata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4" name="Google Shape;884;p43"/>
          <p:cNvSpPr txBox="1"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Asociación de Guías Turísticos de Córdoba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3"/>
          <p:cNvSpPr txBox="1"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Walada de la Mata lidera la Asociación de Guías Turísticos de Córdoba, siendo voz representativa del colectivo profesional que acompaña y da vida al patrimonio de la ciudad.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labor garantiza la transmisión de calidad del rico legado histórico y cultural cordobés.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3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Walada de la Mata — Guía Turística</a:t>
            </a:r>
            <a:endParaRPr b="0"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3"/>
          <p:cNvSpPr txBox="1"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43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888" name="Google Shape;888;p43"/>
          <p:cNvPicPr preferRelativeResize="0"/>
          <p:nvPr/>
        </p:nvPicPr>
        <p:blipFill rotWithShape="1">
          <a:blip r:embed="rId4">
            <a:alphaModFix/>
          </a:blip>
          <a:srcRect b="16444" l="20" r="20" t="0"/>
          <a:stretch/>
        </p:blipFill>
        <p:spPr>
          <a:xfrm>
            <a:off x="809625" y="1524000"/>
            <a:ext cx="2952900" cy="2952900"/>
          </a:xfrm>
          <a:prstGeom prst="roundRect">
            <a:avLst>
              <a:gd fmla="val 6451" name="adj"/>
            </a:avLst>
          </a:prstGeom>
          <a:noFill/>
          <a:ln>
            <a:noFill/>
          </a:ln>
        </p:spPr>
      </p:pic>
      <p:pic>
        <p:nvPicPr>
          <p:cNvPr descr="cambia el fondo de la imagen por Código HEX: #1D4268 (La opción más rápida y recomendada para software de presentaciones) de estudio fotográfico&#10;&#10;Valores RGB: 29, 66, 104" id="889" name="Google Shape;88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25" y="1595450"/>
            <a:ext cx="2779075" cy="30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e20e38e934_210_54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3e20e38e934_210_544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e20e38e934_210_54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e20e38e934_210_544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e20e38e934_210_544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g3e20e38e934_210_544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00" name="Google Shape;900;g3e20e38e934_210_544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g3e20e38e934_210_544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e20e38e934_210_544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Dr. Tomás López-Guzmán </a:t>
            </a:r>
            <a:endParaRPr i="1" sz="1100">
              <a:solidFill>
                <a:srgbClr val="64748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Turismo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e20e38e934_210_544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Dr. Tomás López-Guzmán 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4" name="Google Shape;904;g3e20e38e934_210_544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y Docente — Cátedra de Turismo Patrimonial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e20e38e934_210_544"/>
          <p:cNvSpPr txBox="1"/>
          <p:nvPr/>
        </p:nvSpPr>
        <p:spPr>
          <a:xfrm>
            <a:off x="4381500" y="3143250"/>
            <a:ext cx="7429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Dr. Tomás López-Guzmán es un referente académico en el ámbito del turismo, destacando por su prolífica labor investigadora y docente</a:t>
            </a:r>
            <a:r>
              <a:rPr lang="en-US" sz="1700">
                <a:solidFill>
                  <a:srgbClr val="334155"/>
                </a:solidFill>
              </a:rPr>
              <a:t>.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trabajo se centra en el análisis del impacto socioeconómico del turismo cultural y la gestión sostenible de los destinos patrimoniales, aportando una visión innovadora que integra la excelencia académica con el desarrollo territorial.</a:t>
            </a:r>
            <a:endParaRPr b="0"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e20e38e934_210_544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07" name="Google Shape;907;g3e20e38e934_210_544"/>
          <p:cNvPicPr preferRelativeResize="0"/>
          <p:nvPr/>
        </p:nvPicPr>
        <p:blipFill rotWithShape="1">
          <a:blip r:embed="rId4">
            <a:alphaModFix/>
          </a:blip>
          <a:srcRect b="0" l="7977" r="7968" t="0"/>
          <a:stretch/>
        </p:blipFill>
        <p:spPr>
          <a:xfrm>
            <a:off x="1085111" y="2000250"/>
            <a:ext cx="2401777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20e38e934_210_57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e20e38e934_210_578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e20e38e934_210_57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e20e38e934_210_578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e20e38e934_210_578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e20e38e934_210_578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18" name="Google Shape;918;g3e20e38e934_210_578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e20e38e934_210_578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e20e38e934_210_578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Juan Salado – Palacio de Congresos </a:t>
            </a:r>
            <a:endParaRPr i="1" sz="1100">
              <a:solidFill>
                <a:srgbClr val="64748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64748B"/>
              </a:solidFill>
            </a:endParaRPr>
          </a:p>
        </p:txBody>
      </p:sp>
      <p:sp>
        <p:nvSpPr>
          <p:cNvPr id="921" name="Google Shape;921;g3e20e38e934_210_578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Juan Salado Soto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2" name="Google Shape;922;g3e20e38e934_210_578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Presidente del Palacio de Congresos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e20e38e934_210_578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Juan Salado Soto es empresario y actual Presidente del Palacio de Congresos de Córdoba. 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Su liderazgo estratégico impulsa de forma clave el turismo de negocios y congresos (MICE), conectando con éxito la proyección internacional de la ciudad con el desarrollo patrimonial y económico del sector turístico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e20e38e934_210_578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25" name="Google Shape;925;g3e20e38e934_210_578"/>
          <p:cNvPicPr preferRelativeResize="0"/>
          <p:nvPr/>
        </p:nvPicPr>
        <p:blipFill rotWithShape="1">
          <a:blip r:embed="rId4">
            <a:alphaModFix/>
          </a:blip>
          <a:srcRect b="0" l="10" r="20" t="0"/>
          <a:stretch/>
        </p:blipFill>
        <p:spPr>
          <a:xfrm>
            <a:off x="919163" y="1933575"/>
            <a:ext cx="2733676" cy="299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e20e38e934_210_59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e20e38e934_210_595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e20e38e934_210_59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e20e38e934_210_595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e20e38e934_210_595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20e38e934_210_595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36" name="Google Shape;936;g3e20e38e934_210_595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g3e20e38e934_210_595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e20e38e934_210_595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Rocío Aceña - Directora del Castillo de Almodovar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e20e38e934_210_595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Rocío Aceña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0" name="Google Shape;940;g3e20e38e934_210_595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Directora del Castillo de Almodóvar 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e20e38e934_210_595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Rocío Aceña es especialista en turismo y actual Directora del Castillo de Almodóvar. 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Su liderazgo de gestión impulsa la promoción de esta emblemática fortaleza, conectando la preservación histórica con experiencias culturales únicas en el sector turístico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e20e38e934_210_595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43" name="Google Shape;943;g3e20e38e934_210_595"/>
          <p:cNvPicPr preferRelativeResize="0"/>
          <p:nvPr/>
        </p:nvPicPr>
        <p:blipFill rotWithShape="1">
          <a:blip r:embed="rId4">
            <a:alphaModFix/>
          </a:blip>
          <a:srcRect b="7440" l="0" r="0" t="7440"/>
          <a:stretch/>
        </p:blipFill>
        <p:spPr>
          <a:xfrm>
            <a:off x="1132925" y="1915125"/>
            <a:ext cx="2306150" cy="286010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e20e38e934_210_61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e20e38e934_210_612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e20e38e934_210_6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e20e38e934_210_612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e20e38e934_210_612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e20e38e934_210_612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54" name="Google Shape;954;g3e20e38e934_210_612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g3e20e38e934_210_612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e20e38e934_210_612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Ricardo Hernández — Turismo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e20e38e934_210_612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Fernando Lara de Vicente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8" name="Google Shape;958;g3e20e38e934_210_612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Experto en gestión cultural 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g3e20e38e934_210_612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e20e38e934_210_612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61" name="Google Shape;961;g3e20e38e934_210_612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925500" y="1875677"/>
            <a:ext cx="2720988" cy="2670074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g3e20e38e934_210_612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Fernando Lara de Vicente es profesor investigador en la Universidad de Córdoba (UCO) y con amplia trayectoria académica en Cultura.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Su labor académica e institucional impulsa la innovación y gestión del patrimonio cultural, conectando la docencia con el sector productivo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e20e38e934_210_629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g3e20e38e934_210_629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g3e20e38e934_210_6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e20e38e934_210_629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e20e38e934_210_629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e20e38e934_210_629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73" name="Google Shape;973;g3e20e38e934_210_629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e20e38e934_210_629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e20e38e934_210_629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Ricardo Hernández — Turismo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e20e38e934_210_629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Ricardo Hernández Rojas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77" name="Google Shape;977;g3e20e38e934_210_629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y Docente — Cátedra de Turismo Patrimonial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e20e38e934_210_629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Ricardo Hernández es investigador y docente en turismo patrimonial y cultural, impulsor clave de la Cátedra de Turismo Patrimonial y Cultural de Córdoba.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 liderazgo académico conecta investigación, docencia y práctica profesional en el sector turístico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e20e38e934_210_629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80" name="Google Shape;980;g3e20e38e934_210_629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 rot="-9">
            <a:off x="1182680" y="2090694"/>
            <a:ext cx="1987715" cy="267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e2da75d0cd_0_5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e2da75d0cd_0_54"/>
          <p:cNvSpPr/>
          <p:nvPr/>
        </p:nvSpPr>
        <p:spPr>
          <a:xfrm>
            <a:off x="0" y="1143000"/>
            <a:ext cx="12192000" cy="381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e2da75d0cd_0_5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e2da75d0cd_0_54"/>
          <p:cNvSpPr/>
          <p:nvPr/>
        </p:nvSpPr>
        <p:spPr>
          <a:xfrm>
            <a:off x="381000" y="1524000"/>
            <a:ext cx="3810000" cy="438150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e2da75d0cd_0_54"/>
          <p:cNvSpPr/>
          <p:nvPr/>
        </p:nvSpPr>
        <p:spPr>
          <a:xfrm>
            <a:off x="4381500" y="1524000"/>
            <a:ext cx="7429500" cy="952500"/>
          </a:xfrm>
          <a:prstGeom prst="roundRect">
            <a:avLst>
              <a:gd fmla="val 15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g3e2da75d0cd_0_54"/>
          <p:cNvSpPr/>
          <p:nvPr/>
        </p:nvSpPr>
        <p:spPr>
          <a:xfrm>
            <a:off x="381000" y="2381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00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91" name="Google Shape;991;g3e2da75d0cd_0_54"/>
          <p:cNvPicPr preferRelativeResize="0"/>
          <p:nvPr/>
        </p:nvPicPr>
        <p:blipFill rotWithShape="1">
          <a:blip r:embed="rId3">
            <a:alphaModFix/>
          </a:blip>
          <a:srcRect b="0" l="475" r="466" t="0"/>
          <a:stretch/>
        </p:blipFill>
        <p:spPr>
          <a:xfrm>
            <a:off x="8869680" y="91440"/>
            <a:ext cx="31089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e2da75d0cd_0_54"/>
          <p:cNvSpPr/>
          <p:nvPr/>
        </p:nvSpPr>
        <p:spPr>
          <a:xfrm>
            <a:off x="381000" y="8096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05. Innovación y Academia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3e2da75d0cd_0_54"/>
          <p:cNvSpPr txBox="1"/>
          <p:nvPr/>
        </p:nvSpPr>
        <p:spPr>
          <a:xfrm>
            <a:off x="571500" y="5048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Ricardo Hernández — Turismo Patrimonial</a:t>
            </a:r>
            <a:endParaRPr i="1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3e2da75d0cd_0_54"/>
          <p:cNvSpPr/>
          <p:nvPr/>
        </p:nvSpPr>
        <p:spPr>
          <a:xfrm>
            <a:off x="4619625" y="1524000"/>
            <a:ext cx="6953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Esther bueno Gallardo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5" name="Google Shape;995;g3e2da75d0cd_0_54"/>
          <p:cNvSpPr/>
          <p:nvPr/>
        </p:nvSpPr>
        <p:spPr>
          <a:xfrm>
            <a:off x="4381500" y="2619375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Investigador y Docente - </a:t>
            </a:r>
            <a:endParaRPr b="1" i="1" sz="18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e2da75d0cd_0_54"/>
          <p:cNvSpPr/>
          <p:nvPr/>
        </p:nvSpPr>
        <p:spPr>
          <a:xfrm>
            <a:off x="4381500" y="3143250"/>
            <a:ext cx="7429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Esther Bueno Gallardo es investigadora y docente en derecho tributario y turismo, codirectora en la Cátedra de Turismo Patrimonial y Cultural de Córdoba. </a:t>
            </a:r>
            <a:endParaRPr sz="17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rgbClr val="334155"/>
                </a:solidFill>
              </a:rPr>
              <a:t>Su liderazgo académico impulsa el análisis de la fiscalidad turística, conectando la investigación con el sector económico cordobés.</a:t>
            </a:r>
            <a:endParaRPr sz="17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e2da75d0cd_0_54"/>
          <p:cNvSpPr/>
          <p:nvPr/>
        </p:nvSpPr>
        <p:spPr>
          <a:xfrm>
            <a:off x="11239500" y="628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98" name="Google Shape;998;g3e2da75d0cd_0_54"/>
          <p:cNvPicPr preferRelativeResize="0"/>
          <p:nvPr/>
        </p:nvPicPr>
        <p:blipFill rotWithShape="1">
          <a:blip r:embed="rId4">
            <a:alphaModFix/>
          </a:blip>
          <a:srcRect b="0" l="60" r="50" t="0"/>
          <a:stretch/>
        </p:blipFill>
        <p:spPr>
          <a:xfrm>
            <a:off x="1192113" y="1770175"/>
            <a:ext cx="2187780" cy="30929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e2f14d0d8e_0_20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e2f14d0d8e_0_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e2f14d0d8e_0_20"/>
          <p:cNvSpPr txBox="1"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50 Visionarios del Turismo Patrimonial y Cultural</a:t>
            </a:r>
            <a:endParaRPr b="1" sz="2035">
              <a:solidFill>
                <a:srgbClr val="0F172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06" name="Google Shape;1006;g3e2f14d0d8e_0_20"/>
          <p:cNvPicPr preferRelativeResize="0"/>
          <p:nvPr/>
        </p:nvPicPr>
        <p:blipFill rotWithShape="1">
          <a:blip r:embed="rId3">
            <a:alphaModFix/>
          </a:blip>
          <a:srcRect b="0" l="407" r="417" t="0"/>
          <a:stretch/>
        </p:blipFill>
        <p:spPr>
          <a:xfrm>
            <a:off x="8763000" y="190500"/>
            <a:ext cx="3048000" cy="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g3e2f14d0d8e_0_20"/>
          <p:cNvSpPr txBox="1"/>
          <p:nvPr/>
        </p:nvSpPr>
        <p:spPr>
          <a:xfrm>
            <a:off x="381000" y="857250"/>
            <a:ext cx="1143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01. Gestión Patrimonial Material</a:t>
            </a:r>
            <a:endParaRPr b="1" sz="14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e2f14d0d8e_0_20"/>
          <p:cNvSpPr/>
          <p:nvPr/>
        </p:nvSpPr>
        <p:spPr>
          <a:xfrm>
            <a:off x="381000" y="1714500"/>
            <a:ext cx="3238500" cy="4048200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e2f14d0d8e_0_20"/>
          <p:cNvSpPr/>
          <p:nvPr/>
        </p:nvSpPr>
        <p:spPr>
          <a:xfrm>
            <a:off x="571500" y="1905000"/>
            <a:ext cx="2857500" cy="2857500"/>
          </a:xfrm>
          <a:prstGeom prst="roundRect">
            <a:avLst>
              <a:gd fmla="val 4000" name="adj"/>
            </a:avLst>
          </a:prstGeom>
          <a:solidFill>
            <a:srgbClr val="000000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0" name="Google Shape;1010;g3e2f14d0d8e_0_20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33466" l="0" r="0" t="0"/>
          <a:stretch/>
        </p:blipFill>
        <p:spPr>
          <a:xfrm>
            <a:off x="571500" y="1905000"/>
            <a:ext cx="28575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1011" name="Google Shape;1011;g3e2f14d0d8e_0_20"/>
          <p:cNvSpPr txBox="1"/>
          <p:nvPr/>
        </p:nvSpPr>
        <p:spPr>
          <a:xfrm>
            <a:off x="571500" y="4857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4748B"/>
                </a:solidFill>
              </a:rPr>
              <a:t>Narcisa Ruiz Rodriguez </a:t>
            </a:r>
            <a:endParaRPr i="1" sz="1100">
              <a:solidFill>
                <a:srgbClr val="64748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64748B"/>
              </a:solidFill>
            </a:endParaRPr>
          </a:p>
        </p:txBody>
      </p:sp>
      <p:sp>
        <p:nvSpPr>
          <p:cNvPr id="1012" name="Google Shape;1012;g3e2f14d0d8e_0_20"/>
          <p:cNvSpPr/>
          <p:nvPr/>
        </p:nvSpPr>
        <p:spPr>
          <a:xfrm>
            <a:off x="4000500" y="1714500"/>
            <a:ext cx="7810500" cy="952500"/>
          </a:xfrm>
          <a:prstGeom prst="roundRect">
            <a:avLst>
              <a:gd fmla="val 12000" name="adj"/>
            </a:avLst>
          </a:prstGeom>
          <a:solidFill>
            <a:srgbClr val="1E57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g3e2f14d0d8e_0_20"/>
          <p:cNvSpPr txBox="1"/>
          <p:nvPr/>
        </p:nvSpPr>
        <p:spPr>
          <a:xfrm>
            <a:off x="4191000" y="1809750"/>
            <a:ext cx="742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Narcisa Ruiz Rodriguez 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14" name="Google Shape;1014;g3e2f14d0d8e_0_20"/>
          <p:cNvSpPr txBox="1"/>
          <p:nvPr/>
        </p:nvSpPr>
        <p:spPr>
          <a:xfrm>
            <a:off x="4000500" y="27622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0A0A"/>
                </a:solidFill>
                <a:highlight>
                  <a:srgbClr val="FFFFFF"/>
                </a:highlight>
              </a:rPr>
              <a:t>Diputada de Turismo de Córdoba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i="1" sz="1600">
              <a:solidFill>
                <a:srgbClr val="1E5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e2f14d0d8e_0_20"/>
          <p:cNvSpPr txBox="1"/>
          <p:nvPr/>
        </p:nvSpPr>
        <p:spPr>
          <a:xfrm>
            <a:off x="4000500" y="3238500"/>
            <a:ext cx="7810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</a:rPr>
              <a:t>Narci Ruiz es periodista y política especialista en turismo, Diputada Delegada Especial de Turismo en la Diputación de Córdoba.</a:t>
            </a:r>
            <a:endParaRPr sz="16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</a:rPr>
              <a:t> Su liderazgo institucional impulsa la promoción provincial, conectando la preservación del patrimonio con el desarrollo económico y turístico cordobés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3e2f14d0d8e_0_20"/>
          <p:cNvSpPr txBox="1"/>
          <p:nvPr/>
        </p:nvSpPr>
        <p:spPr>
          <a:xfrm>
            <a:off x="11430000" y="62865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[#]</a:t>
            </a:r>
            <a:endParaRPr b="1" sz="2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2026-05-14T20:17:38Z</dcterms:created>
  <dc:creator>PptxGenJS</dc:creator>
</cp:coreProperties>
</file>